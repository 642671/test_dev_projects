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notesMasterIdLst>
    <p:notesMasterId r:id="rId4"/>
  </p:notesMasterIdLst>
  <p:sldIdLst>
    <p:sldId id="256" r:id="rId3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  <p:sldId id="267" r:id="rId15"/>
    <p:sldId id="268" r:id="rId16"/>
    <p:sldId id="269" r:id="rId17"/>
    <p:sldId id="270" r:id="rId18"/>
    <p:sldId id="271" r:id="rId19"/>
    <p:sldId id="272" r:id="rId20"/>
    <p:sldId id="273" r:id="rId21"/>
  </p:sldIdLst>
  <p:sldSz cx="12191365" cy="6858000"/>
  <p:notesSz cx="6858000" cy="1219136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4" Type="http://schemas.openxmlformats.org/officeDocument/2006/relationships/tableStyles" Target="tableStyles.xml"/><Relationship Id="rId23" Type="http://schemas.openxmlformats.org/officeDocument/2006/relationships/viewProps" Target="viewProps.xml"/><Relationship Id="rId22" Type="http://schemas.openxmlformats.org/officeDocument/2006/relationships/presProps" Target="presProps.xml"/><Relationship Id="rId21" Type="http://schemas.openxmlformats.org/officeDocument/2006/relationships/slide" Target="slides/slide18.xml"/><Relationship Id="rId20" Type="http://schemas.openxmlformats.org/officeDocument/2006/relationships/slide" Target="slides/slide17.xml"/><Relationship Id="rId2" Type="http://schemas.openxmlformats.org/officeDocument/2006/relationships/theme" Target="theme/theme1.xml"/><Relationship Id="rId19" Type="http://schemas.openxmlformats.org/officeDocument/2006/relationships/slide" Target="slides/slide16.xml"/><Relationship Id="rId18" Type="http://schemas.openxmlformats.org/officeDocument/2006/relationships/slide" Target="slides/slide15.xml"/><Relationship Id="rId17" Type="http://schemas.openxmlformats.org/officeDocument/2006/relationships/slide" Target="slides/slide14.xml"/><Relationship Id="rId16" Type="http://schemas.openxmlformats.org/officeDocument/2006/relationships/slide" Target="slides/slide13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2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3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4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5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6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7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8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B1B2F"/>
          </a:solidFill>
        </p:spPr>
        <p:txBody>
          <a:bodyPr/>
          <a:p>
            <a:endParaRPr lang="zh-CN" altLang="en-US"/>
          </a:p>
        </p:txBody>
      </p:sp>
      <p:sp>
        <p:nvSpPr>
          <p:cNvPr id="3" name="Shape 1"/>
          <p:cNvSpPr/>
          <p:nvPr/>
        </p:nvSpPr>
        <p:spPr>
          <a:xfrm>
            <a:off x="0" y="2286000"/>
            <a:ext cx="12191695" cy="73152"/>
          </a:xfrm>
          <a:prstGeom prst="rect">
            <a:avLst/>
          </a:prstGeom>
          <a:solidFill>
            <a:srgbClr val="40916C"/>
          </a:solidFill>
        </p:spPr>
      </p:sp>
      <p:sp>
        <p:nvSpPr>
          <p:cNvPr id="4" name="Text 2"/>
          <p:cNvSpPr/>
          <p:nvPr/>
        </p:nvSpPr>
        <p:spPr>
          <a:xfrm>
            <a:off x="731520" y="1097280"/>
            <a:ext cx="10698480" cy="10972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200" b="1" dirty="0">
                <a:solidFill>
                  <a:srgbClr val="FFFFFF"/>
                </a:solidFill>
              </a:rPr>
              <a:t>接口测试培训</a:t>
            </a:r>
            <a:endParaRPr lang="en-US" sz="4200" dirty="0"/>
          </a:p>
        </p:txBody>
      </p:sp>
      <p:sp>
        <p:nvSpPr>
          <p:cNvPr id="5" name="Text 3"/>
          <p:cNvSpPr/>
          <p:nvPr/>
        </p:nvSpPr>
        <p:spPr>
          <a:xfrm>
            <a:off x="731520" y="2560320"/>
            <a:ext cx="10698480" cy="5486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D8F3DC"/>
                </a:solidFill>
              </a:rPr>
              <a:t>从概念到执行 · 一条接口的完整测试闭环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0" y="3840480"/>
            <a:ext cx="12191695" cy="73152"/>
          </a:xfrm>
          <a:prstGeom prst="rect">
            <a:avLst/>
          </a:prstGeom>
          <a:solidFill>
            <a:srgbClr val="40916C"/>
          </a:solidFill>
        </p:spPr>
      </p:sp>
      <p:sp>
        <p:nvSpPr>
          <p:cNvPr id="7" name="Text 5"/>
          <p:cNvSpPr/>
          <p:nvPr/>
        </p:nvSpPr>
        <p:spPr>
          <a:xfrm>
            <a:off x="731520" y="4114800"/>
            <a:ext cx="1069848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6C757D"/>
                </a:solidFill>
              </a:rPr>
              <a:t>TOS 存储管理接口 · Apifox · Excel 15字段模板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731520" y="4572000"/>
            <a:ext cx="1069848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40916C"/>
                </a:solidFill>
              </a:rPr>
              <a:t>演示接口：GET /v2/storage/overview（存储概览）</a:t>
            </a:r>
            <a:endParaRPr lang="en-US" sz="1300" dirty="0"/>
          </a:p>
        </p:txBody>
      </p:sp>
      <p:sp>
        <p:nvSpPr>
          <p:cNvPr id="9" name="文本框 8"/>
          <p:cNvSpPr txBox="1"/>
          <p:nvPr/>
        </p:nvSpPr>
        <p:spPr>
          <a:xfrm>
            <a:off x="7746153" y="5822865"/>
            <a:ext cx="4063788" cy="645160"/>
          </a:xfrm>
          <a:prstGeom prst="rect">
            <a:avLst/>
          </a:prstGeom>
        </p:spPr>
        <p:txBody>
          <a:bodyPr>
            <a:spAutoFit/>
            <a:extLst>
              <a:ext uri="{4A0BC546-FE56-4ADE-93B0-CB8AF2F6F144}">
                <wpsdc:textFrameExt xmlns:wpsdc="http://www.wps.cn/officeDocument/2022/drawingmlCustomData" type="text"/>
              </a:ext>
            </a:extLst>
          </a:bodyPr>
          <a:p>
            <a:pPr algn="l"/>
            <a:r>
              <a:rPr lang="zh-CN" altLang="en-US" sz="1800"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charset="-122"/>
              </a:rPr>
              <a:t>讲解人：苗奇</a:t>
            </a:r>
            <a:endParaRPr lang="zh-CN" altLang="en-US" sz="1800">
              <a:solidFill>
                <a:schemeClr val="bg1"/>
              </a:solidFill>
              <a:latin typeface="Arial" panose="020B0604020202020204" pitchFamily="34" charset="0"/>
              <a:ea typeface="微软雅黑" panose="020B0503020204020204" charset="-122"/>
            </a:endParaRPr>
          </a:p>
          <a:p>
            <a:pPr algn="l"/>
            <a:r>
              <a:rPr lang="zh-CN" altLang="en-US" sz="1800"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charset="-122"/>
              </a:rPr>
              <a:t>时间：</a:t>
            </a:r>
            <a:r>
              <a:rPr lang="en-US" altLang="zh-CN" sz="1800"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charset="-122"/>
              </a:rPr>
              <a:t>	2026</a:t>
            </a:r>
            <a:r>
              <a:rPr lang="zh-CN" altLang="en-US" sz="1800"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charset="-122"/>
              </a:rPr>
              <a:t>年</a:t>
            </a:r>
            <a:r>
              <a:rPr lang="en-US" altLang="zh-CN" sz="1800"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charset="-122"/>
              </a:rPr>
              <a:t>7</a:t>
            </a:r>
            <a:r>
              <a:rPr lang="zh-CN" altLang="en-US" sz="1800"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charset="-122"/>
              </a:rPr>
              <a:t>月</a:t>
            </a:r>
            <a:r>
              <a:rPr lang="en-US" altLang="zh-CN" sz="1800"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charset="-122"/>
              </a:rPr>
              <a:t>24</a:t>
            </a:r>
            <a:r>
              <a:rPr lang="zh-CN" altLang="en-US" sz="1800"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charset="-122"/>
              </a:rPr>
              <a:t>日</a:t>
            </a:r>
            <a:endParaRPr lang="zh-CN" altLang="en-US" sz="1800">
              <a:solidFill>
                <a:schemeClr val="bg1"/>
              </a:solidFill>
              <a:latin typeface="Arial" panose="020B0604020202020204" pitchFamily="34" charset="0"/>
              <a:ea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2D6A4F"/>
          </a:solidFill>
        </p:spPr>
      </p:sp>
      <p:sp>
        <p:nvSpPr>
          <p:cNvPr id="3" name="Text 1"/>
          <p:cNvSpPr/>
          <p:nvPr/>
        </p:nvSpPr>
        <p:spPr>
          <a:xfrm>
            <a:off x="548640" y="137160"/>
            <a:ext cx="10972800" cy="6400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</a:rPr>
              <a:t>接口是什么？用一个比喻说清楚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6400800"/>
            <a:ext cx="1124712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6C757D"/>
                </a:solidFill>
              </a:rPr>
              <a:t>接口测试培训 · TOS 存储管理</a:t>
            </a:r>
            <a:endParaRPr lang="en-US" sz="800" dirty="0"/>
          </a:p>
        </p:txBody>
      </p:sp>
      <p:sp>
        <p:nvSpPr>
          <p:cNvPr id="5" name="Shape 3"/>
          <p:cNvSpPr/>
          <p:nvPr/>
        </p:nvSpPr>
        <p:spPr>
          <a:xfrm>
            <a:off x="792328" y="1828800"/>
            <a:ext cx="3291840" cy="2560320"/>
          </a:xfrm>
          <a:prstGeom prst="roundRect">
            <a:avLst>
              <a:gd name="adj" fmla="val 7143"/>
            </a:avLst>
          </a:prstGeom>
          <a:solidFill>
            <a:srgbClr val="F8F9FA"/>
          </a:solidFill>
          <a:ln w="25400">
            <a:solidFill>
              <a:srgbClr val="2D6A4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75208" y="2011680"/>
            <a:ext cx="292608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2D6A4F"/>
                </a:solidFill>
              </a:rPr>
              <a:t>① 看菜单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1066648" y="2560320"/>
            <a:ext cx="2743200" cy="16459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1B1B2F"/>
                </a:solidFill>
              </a:rPr>
              <a:t>菜单 = 接口文档</a:t>
            </a:r>
            <a:endParaRPr lang="en-US" sz="1400" dirty="0"/>
          </a:p>
          <a:p>
            <a:pPr marL="0" indent="0" algn="ctr">
              <a:buNone/>
            </a:pPr>
            <a:r>
              <a:rPr lang="en-US" sz="1400" dirty="0">
                <a:solidFill>
                  <a:srgbClr val="1B1B2F"/>
                </a:solidFill>
              </a:rPr>
              <a:t>告诉你有什么能力、</a:t>
            </a:r>
            <a:endParaRPr lang="en-US" sz="1400" dirty="0"/>
          </a:p>
          <a:p>
            <a:pPr marL="0" indent="0" algn="ctr">
              <a:buNone/>
            </a:pPr>
            <a:r>
              <a:rPr lang="en-US" sz="1400" dirty="0">
                <a:solidFill>
                  <a:srgbClr val="1B1B2F"/>
                </a:solidFill>
              </a:rPr>
              <a:t>需要传什么参数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4084168" y="2880360"/>
            <a:ext cx="36576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dirty="0">
                <a:solidFill>
                  <a:srgbClr val="6C757D"/>
                </a:solidFill>
              </a:rPr>
              <a:t>→</a:t>
            </a:r>
            <a:endParaRPr lang="en-US" sz="2800" dirty="0"/>
          </a:p>
        </p:txBody>
      </p:sp>
      <p:sp>
        <p:nvSpPr>
          <p:cNvPr id="9" name="Shape 7"/>
          <p:cNvSpPr/>
          <p:nvPr/>
        </p:nvSpPr>
        <p:spPr>
          <a:xfrm>
            <a:off x="4449928" y="1828800"/>
            <a:ext cx="3291840" cy="2560320"/>
          </a:xfrm>
          <a:prstGeom prst="roundRect">
            <a:avLst>
              <a:gd name="adj" fmla="val 7143"/>
            </a:avLst>
          </a:prstGeom>
          <a:solidFill>
            <a:srgbClr val="F8F9FA"/>
          </a:solidFill>
          <a:ln w="25400">
            <a:solidFill>
              <a:srgbClr val="40916C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632808" y="2011680"/>
            <a:ext cx="292608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40916C"/>
                </a:solidFill>
              </a:rPr>
              <a:t>② 点菜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4724248" y="2560320"/>
            <a:ext cx="2743200" cy="16459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1B1B2F"/>
                </a:solidFill>
              </a:rPr>
              <a:t>服务员 = 接口</a:t>
            </a:r>
            <a:endParaRPr lang="en-US" sz="1400" dirty="0"/>
          </a:p>
          <a:p>
            <a:pPr marL="0" indent="0" algn="ctr">
              <a:buNone/>
            </a:pPr>
            <a:r>
              <a:rPr lang="en-US" sz="1400" dirty="0">
                <a:solidFill>
                  <a:srgbClr val="1B1B2F"/>
                </a:solidFill>
              </a:rPr>
              <a:t>你把需求说清楚，</a:t>
            </a:r>
            <a:endParaRPr lang="en-US" sz="1400" dirty="0"/>
          </a:p>
          <a:p>
            <a:pPr marL="0" indent="0" algn="ctr">
              <a:buNone/>
            </a:pPr>
            <a:r>
              <a:rPr lang="en-US" sz="1400" dirty="0">
                <a:solidFill>
                  <a:srgbClr val="1B1B2F"/>
                </a:solidFill>
              </a:rPr>
              <a:t>不需要关心后厨怎么炒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7741768" y="2880360"/>
            <a:ext cx="36576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dirty="0">
                <a:solidFill>
                  <a:srgbClr val="6C757D"/>
                </a:solidFill>
              </a:rPr>
              <a:t>→</a:t>
            </a:r>
            <a:endParaRPr lang="en-US" sz="2800" dirty="0"/>
          </a:p>
        </p:txBody>
      </p:sp>
      <p:sp>
        <p:nvSpPr>
          <p:cNvPr id="13" name="Shape 11"/>
          <p:cNvSpPr/>
          <p:nvPr/>
        </p:nvSpPr>
        <p:spPr>
          <a:xfrm>
            <a:off x="8107528" y="1828800"/>
            <a:ext cx="3291840" cy="2560320"/>
          </a:xfrm>
          <a:prstGeom prst="roundRect">
            <a:avLst>
              <a:gd name="adj" fmla="val 7143"/>
            </a:avLst>
          </a:prstGeom>
          <a:solidFill>
            <a:srgbClr val="F8F9FA"/>
          </a:solidFill>
          <a:ln w="25400">
            <a:solidFill>
              <a:srgbClr val="E6510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290408" y="2011680"/>
            <a:ext cx="292608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E65100"/>
                </a:solidFill>
              </a:rPr>
              <a:t>③ 上菜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8381848" y="2560320"/>
            <a:ext cx="2743200" cy="16459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1B1B2F"/>
                </a:solidFill>
              </a:rPr>
              <a:t>端上来的菜 = 响应</a:t>
            </a:r>
            <a:endParaRPr lang="en-US" sz="1400" dirty="0"/>
          </a:p>
          <a:p>
            <a:pPr marL="0" indent="0" algn="ctr">
              <a:buNone/>
            </a:pPr>
            <a:r>
              <a:rPr lang="en-US" sz="1400" dirty="0">
                <a:solidFill>
                  <a:srgbClr val="1B1B2F"/>
                </a:solidFill>
              </a:rPr>
              <a:t>你拿到结果，</a:t>
            </a:r>
            <a:endParaRPr lang="en-US" sz="1400" dirty="0"/>
          </a:p>
          <a:p>
            <a:pPr marL="0" indent="0" algn="ctr">
              <a:buNone/>
            </a:pPr>
            <a:r>
              <a:rPr lang="en-US" sz="1400" dirty="0">
                <a:solidFill>
                  <a:srgbClr val="1B1B2F"/>
                </a:solidFill>
              </a:rPr>
              <a:t>好不好吃一尝便知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731520" y="4846320"/>
            <a:ext cx="10698480" cy="8229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6C757D"/>
                </a:solidFill>
              </a:rPr>
              <a:t>接口 = 两个系统之间传话的通道。你打开 TOS 桌面看到的存储池列表，不是凭空出现的——是页面在背后调了接口，向 NAS 后端要来的数据。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457200" y="6400800"/>
            <a:ext cx="1124712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6C757D"/>
                </a:solidFill>
              </a:rPr>
              <a:t>接口测试培训 · TOS 存储管理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2D6A4F"/>
          </a:solidFill>
        </p:spPr>
      </p:sp>
      <p:sp>
        <p:nvSpPr>
          <p:cNvPr id="3" name="Text 1"/>
          <p:cNvSpPr/>
          <p:nvPr/>
        </p:nvSpPr>
        <p:spPr>
          <a:xfrm>
            <a:off x="548640" y="137160"/>
            <a:ext cx="10972800" cy="6400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</a:rPr>
              <a:t>接口长什么样？打开 F12，眼见为实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6400800"/>
            <a:ext cx="1124712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6C757D"/>
                </a:solidFill>
              </a:rPr>
              <a:t>接口测试培训 · TOS 存储管理</a:t>
            </a:r>
            <a:endParaRPr lang="en-US" sz="800" dirty="0"/>
          </a:p>
        </p:txBody>
      </p:sp>
      <p:sp>
        <p:nvSpPr>
          <p:cNvPr id="5" name="Shape 3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2D6A4F"/>
          </a:solidFill>
        </p:spPr>
      </p:sp>
      <p:sp>
        <p:nvSpPr>
          <p:cNvPr id="6" name="Text 4"/>
          <p:cNvSpPr/>
          <p:nvPr/>
        </p:nvSpPr>
        <p:spPr>
          <a:xfrm>
            <a:off x="548640" y="137160"/>
            <a:ext cx="10972800" cy="6400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457200" y="6400800"/>
            <a:ext cx="1124712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6C757D"/>
                </a:solidFill>
              </a:rPr>
              <a:t>接口测试培训 · TOS 存储管理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731520" y="1463040"/>
            <a:ext cx="10515600" cy="448056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40916C"/>
                </a:solidFill>
              </a:rPr>
              <a:t>动手验证（现场演示）</a:t>
            </a:r>
            <a:endParaRPr lang="en-US" sz="18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1B1B2F"/>
                </a:solidFill>
              </a:rPr>
              <a:t>第一步：打开 TOS 桌面存储概览页面</a:t>
            </a:r>
            <a:endParaRPr lang="en-US" sz="18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1B1B2F"/>
                </a:solidFill>
              </a:rPr>
              <a:t>第二步：按 F12 打开开发者工具，切换到 Network（网络）标签</a:t>
            </a:r>
            <a:endParaRPr lang="en-US" sz="18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1B1B2F"/>
                </a:solidFill>
              </a:rPr>
              <a:t>第三步：刷新页面，观察请求列表中出现的一排网络请求</a:t>
            </a:r>
            <a:endParaRPr lang="en-US" sz="18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1B1B2F"/>
                </a:solidFill>
              </a:rPr>
              <a:t>第四步：找到 overview 请求，查看右侧响应内容——这就是接口返回的数据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1124712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6C757D"/>
                </a:solidFill>
              </a:rPr>
              <a:t>接口测试培训 · TOS 存储管理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1371600" y="4480560"/>
            <a:ext cx="9418320" cy="1097280"/>
          </a:xfrm>
          <a:prstGeom prst="roundRect">
            <a:avLst>
              <a:gd name="adj" fmla="val 12500"/>
            </a:avLst>
          </a:prstGeom>
          <a:solidFill>
            <a:srgbClr val="FFF3E0"/>
          </a:solidFill>
          <a:ln w="19050">
            <a:solidFill>
              <a:srgbClr val="E6510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645920" y="4572000"/>
            <a:ext cx="8869680" cy="9144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E65100"/>
                </a:solidFill>
              </a:rPr>
              <a:t>💡 接口不是抽象概念。F12 → Network 标签里每一个请求就是一个接口调用，肉眼可见、可验证。页面上的每一行数据，都来自某个接口的响应。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457200" y="6400800"/>
            <a:ext cx="1124712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6C757D"/>
                </a:solidFill>
              </a:rPr>
              <a:t>接口测试培训 · TOS 存储管理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2D6A4F"/>
          </a:solidFill>
        </p:spPr>
      </p:sp>
      <p:sp>
        <p:nvSpPr>
          <p:cNvPr id="3" name="Text 1"/>
          <p:cNvSpPr/>
          <p:nvPr/>
        </p:nvSpPr>
        <p:spPr>
          <a:xfrm>
            <a:off x="548640" y="137160"/>
            <a:ext cx="10972800" cy="6400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</a:rPr>
              <a:t>接口测试到底在测什么？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6400800"/>
            <a:ext cx="1124712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6C757D"/>
                </a:solidFill>
              </a:rPr>
              <a:t>接口测试培训 · TOS 存储管理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731520" y="1371600"/>
            <a:ext cx="1069848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6C757D"/>
                </a:solidFill>
              </a:rPr>
              <a:t>功能测试 = 检查端上来的菜好不好看     接口测试 = 检查后厨炒菜的火候、调料、食材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640080" y="2011680"/>
            <a:ext cx="2011680" cy="384048"/>
          </a:xfrm>
          <a:prstGeom prst="rect">
            <a:avLst/>
          </a:prstGeom>
          <a:solidFill>
            <a:srgbClr val="2D6A4F"/>
          </a:solidFill>
          <a:ln w="6350">
            <a:solidFill>
              <a:srgbClr val="DEE2E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31520" y="2057400"/>
            <a:ext cx="1828800" cy="29260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</a:rPr>
              <a:t>检查维度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2651760" y="2011680"/>
            <a:ext cx="5029200" cy="384048"/>
          </a:xfrm>
          <a:prstGeom prst="rect">
            <a:avLst/>
          </a:prstGeom>
          <a:solidFill>
            <a:srgbClr val="2D6A4F"/>
          </a:solidFill>
          <a:ln w="6350">
            <a:solidFill>
              <a:srgbClr val="DEE2E6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743200" y="2057400"/>
            <a:ext cx="4846320" cy="29260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</a:rPr>
              <a:t>问的是什么问题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7680960" y="2011680"/>
            <a:ext cx="3657600" cy="384048"/>
          </a:xfrm>
          <a:prstGeom prst="rect">
            <a:avLst/>
          </a:prstGeom>
          <a:solidFill>
            <a:srgbClr val="2D6A4F"/>
          </a:solidFill>
          <a:ln w="6350">
            <a:solidFill>
              <a:srgbClr val="DEE2E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772400" y="2057400"/>
            <a:ext cx="3474720" cy="29260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</a:rPr>
              <a:t>举例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640080" y="2395728"/>
            <a:ext cx="2011680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DEE2E6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31520" y="2441448"/>
            <a:ext cx="1828800" cy="29260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2D6A4F"/>
                </a:solidFill>
              </a:rPr>
              <a:t>状态码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2651760" y="2395728"/>
            <a:ext cx="5029200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DEE2E6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2743200" y="2441448"/>
            <a:ext cx="4846320" cy="29260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B1B2F"/>
                </a:solidFill>
              </a:rPr>
              <a:t>服务端收到请求了吗？正常处理了吗？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7680960" y="2395728"/>
            <a:ext cx="3657600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DEE2E6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772400" y="2441448"/>
            <a:ext cx="3474720" cy="29260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B1B2F"/>
                </a:solidFill>
              </a:rPr>
              <a:t>200 正常 / 403 没权限 / 500 崩溃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640080" y="2779776"/>
            <a:ext cx="2011680" cy="384048"/>
          </a:xfrm>
          <a:prstGeom prst="rect">
            <a:avLst/>
          </a:prstGeom>
          <a:solidFill>
            <a:srgbClr val="F8F9FA"/>
          </a:solidFill>
          <a:ln w="6350">
            <a:solidFill>
              <a:srgbClr val="DEE2E6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731520" y="2825496"/>
            <a:ext cx="1828800" cy="29260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2D6A4F"/>
                </a:solidFill>
              </a:rPr>
              <a:t>响应结构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2651760" y="2779776"/>
            <a:ext cx="5029200" cy="384048"/>
          </a:xfrm>
          <a:prstGeom prst="rect">
            <a:avLst/>
          </a:prstGeom>
          <a:solidFill>
            <a:srgbClr val="F8F9FA"/>
          </a:solidFill>
          <a:ln w="6350">
            <a:solidFill>
              <a:srgbClr val="DEE2E6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2743200" y="2825496"/>
            <a:ext cx="4846320" cy="29260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B1B2F"/>
                </a:solidFill>
              </a:rPr>
              <a:t>返回的数据格式对吗？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7680960" y="2779776"/>
            <a:ext cx="3657600" cy="384048"/>
          </a:xfrm>
          <a:prstGeom prst="rect">
            <a:avLst/>
          </a:prstGeom>
          <a:solidFill>
            <a:srgbClr val="F8F9FA"/>
          </a:solidFill>
          <a:ln w="6350">
            <a:solidFill>
              <a:srgbClr val="DEE2E6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7772400" y="2825496"/>
            <a:ext cx="3474720" cy="29260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B1B2F"/>
                </a:solidFill>
              </a:rPr>
              <a:t>约定 JSON，不能返回 HTML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640080" y="3163824"/>
            <a:ext cx="2011680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DEE2E6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731520" y="3209544"/>
            <a:ext cx="1828800" cy="29260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2D6A4F"/>
                </a:solidFill>
              </a:rPr>
              <a:t>字段值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2651760" y="3163824"/>
            <a:ext cx="5029200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DEE2E6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2743200" y="3209544"/>
            <a:ext cx="4846320" cy="29260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B1B2F"/>
                </a:solidFill>
              </a:rPr>
              <a:t>数据内容对吗？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7680960" y="3163824"/>
            <a:ext cx="3657600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DEE2E6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7772400" y="3209544"/>
            <a:ext cx="3474720" cy="29260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B1B2F"/>
                </a:solidFill>
              </a:rPr>
              <a:t>state 应为 healthy 不是 null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640080" y="3547872"/>
            <a:ext cx="2011680" cy="384048"/>
          </a:xfrm>
          <a:prstGeom prst="rect">
            <a:avLst/>
          </a:prstGeom>
          <a:solidFill>
            <a:srgbClr val="F8F9FA"/>
          </a:solidFill>
          <a:ln w="6350">
            <a:solidFill>
              <a:srgbClr val="DEE2E6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731520" y="3593592"/>
            <a:ext cx="1828800" cy="29260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2D6A4F"/>
                </a:solidFill>
              </a:rPr>
              <a:t>权限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2651760" y="3547872"/>
            <a:ext cx="5029200" cy="384048"/>
          </a:xfrm>
          <a:prstGeom prst="rect">
            <a:avLst/>
          </a:prstGeom>
          <a:solidFill>
            <a:srgbClr val="F8F9FA"/>
          </a:solidFill>
          <a:ln w="6350">
            <a:solidFill>
              <a:srgbClr val="DEE2E6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2743200" y="3593592"/>
            <a:ext cx="4846320" cy="29260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B1B2F"/>
                </a:solidFill>
              </a:rPr>
              <a:t>该拦的拦住了吗？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7680960" y="3547872"/>
            <a:ext cx="3657600" cy="384048"/>
          </a:xfrm>
          <a:prstGeom prst="rect">
            <a:avLst/>
          </a:prstGeom>
          <a:solidFill>
            <a:srgbClr val="F8F9FA"/>
          </a:solidFill>
          <a:ln w="6350">
            <a:solidFill>
              <a:srgbClr val="DEE2E6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7772400" y="3593592"/>
            <a:ext cx="3474720" cy="29260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B1B2F"/>
                </a:solidFill>
              </a:rPr>
              <a:t>普通用户不能删别人的存储池</a:t>
            </a:r>
            <a:endParaRPr lang="en-US" sz="1000" dirty="0"/>
          </a:p>
        </p:txBody>
      </p:sp>
      <p:sp>
        <p:nvSpPr>
          <p:cNvPr id="36" name="Shape 34"/>
          <p:cNvSpPr/>
          <p:nvPr/>
        </p:nvSpPr>
        <p:spPr>
          <a:xfrm>
            <a:off x="640080" y="3931920"/>
            <a:ext cx="2011680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DEE2E6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731520" y="3977640"/>
            <a:ext cx="1828800" cy="29260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2D6A4F"/>
                </a:solidFill>
              </a:rPr>
              <a:t>参数校验</a:t>
            </a:r>
            <a:endParaRPr lang="en-US" sz="1000" dirty="0"/>
          </a:p>
        </p:txBody>
      </p:sp>
      <p:sp>
        <p:nvSpPr>
          <p:cNvPr id="38" name="Shape 36"/>
          <p:cNvSpPr/>
          <p:nvPr/>
        </p:nvSpPr>
        <p:spPr>
          <a:xfrm>
            <a:off x="2651760" y="3931920"/>
            <a:ext cx="5029200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DEE2E6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2743200" y="3977640"/>
            <a:ext cx="4846320" cy="29260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B1B2F"/>
                </a:solidFill>
              </a:rPr>
              <a:t>传错了能正确报错吗？</a:t>
            </a:r>
            <a:endParaRPr lang="en-US" sz="1000" dirty="0"/>
          </a:p>
        </p:txBody>
      </p:sp>
      <p:sp>
        <p:nvSpPr>
          <p:cNvPr id="40" name="Shape 38"/>
          <p:cNvSpPr/>
          <p:nvPr/>
        </p:nvSpPr>
        <p:spPr>
          <a:xfrm>
            <a:off x="7680960" y="3931920"/>
            <a:ext cx="3657600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DEE2E6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7772400" y="3977640"/>
            <a:ext cx="3474720" cy="29260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B1B2F"/>
                </a:solidFill>
              </a:rPr>
              <a:t>非法参数应返回明确错误，非 500 崩溃</a:t>
            </a:r>
            <a:endParaRPr lang="en-US" sz="1000" dirty="0"/>
          </a:p>
        </p:txBody>
      </p:sp>
      <p:sp>
        <p:nvSpPr>
          <p:cNvPr id="42" name="Shape 40"/>
          <p:cNvSpPr/>
          <p:nvPr/>
        </p:nvSpPr>
        <p:spPr>
          <a:xfrm>
            <a:off x="640080" y="4315968"/>
            <a:ext cx="2011680" cy="384048"/>
          </a:xfrm>
          <a:prstGeom prst="rect">
            <a:avLst/>
          </a:prstGeom>
          <a:solidFill>
            <a:srgbClr val="F8F9FA"/>
          </a:solidFill>
          <a:ln w="6350">
            <a:solidFill>
              <a:srgbClr val="DEE2E6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731520" y="4361688"/>
            <a:ext cx="1828800" cy="29260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2D6A4F"/>
                </a:solidFill>
              </a:rPr>
              <a:t>边界</a:t>
            </a:r>
            <a:endParaRPr lang="en-US" sz="1000" dirty="0"/>
          </a:p>
        </p:txBody>
      </p:sp>
      <p:sp>
        <p:nvSpPr>
          <p:cNvPr id="44" name="Shape 42"/>
          <p:cNvSpPr/>
          <p:nvPr/>
        </p:nvSpPr>
        <p:spPr>
          <a:xfrm>
            <a:off x="2651760" y="4315968"/>
            <a:ext cx="5029200" cy="384048"/>
          </a:xfrm>
          <a:prstGeom prst="rect">
            <a:avLst/>
          </a:prstGeom>
          <a:solidFill>
            <a:srgbClr val="F8F9FA"/>
          </a:solidFill>
          <a:ln w="6350">
            <a:solidFill>
              <a:srgbClr val="DEE2E6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2743200" y="4361688"/>
            <a:ext cx="4846320" cy="29260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B1B2F"/>
                </a:solidFill>
              </a:rPr>
              <a:t>极限情况扛得住吗？</a:t>
            </a:r>
            <a:endParaRPr lang="en-US" sz="1000" dirty="0"/>
          </a:p>
        </p:txBody>
      </p:sp>
      <p:sp>
        <p:nvSpPr>
          <p:cNvPr id="46" name="Shape 44"/>
          <p:cNvSpPr/>
          <p:nvPr/>
        </p:nvSpPr>
        <p:spPr>
          <a:xfrm>
            <a:off x="7680960" y="4315968"/>
            <a:ext cx="3657600" cy="384048"/>
          </a:xfrm>
          <a:prstGeom prst="rect">
            <a:avLst/>
          </a:prstGeom>
          <a:solidFill>
            <a:srgbClr val="F8F9FA"/>
          </a:solidFill>
          <a:ln w="6350">
            <a:solidFill>
              <a:srgbClr val="DEE2E6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7772400" y="4361688"/>
            <a:ext cx="3474720" cy="29260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B1B2F"/>
                </a:solidFill>
              </a:rPr>
              <a:t>空字符串/超长字符串能正确处理</a:t>
            </a:r>
            <a:endParaRPr lang="en-US" sz="1000" dirty="0"/>
          </a:p>
        </p:txBody>
      </p:sp>
      <p:sp>
        <p:nvSpPr>
          <p:cNvPr id="48" name="Text 46"/>
          <p:cNvSpPr/>
          <p:nvPr/>
        </p:nvSpPr>
        <p:spPr>
          <a:xfrm>
            <a:off x="457200" y="6400800"/>
            <a:ext cx="1124712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6C757D"/>
                </a:solidFill>
              </a:rPr>
              <a:t>接口测试培训 · TOS 存储管理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2D6A4F"/>
          </a:solidFill>
        </p:spPr>
      </p:sp>
      <p:sp>
        <p:nvSpPr>
          <p:cNvPr id="3" name="Text 1"/>
          <p:cNvSpPr/>
          <p:nvPr/>
        </p:nvSpPr>
        <p:spPr>
          <a:xfrm>
            <a:off x="548640" y="137160"/>
            <a:ext cx="10972800" cy="6400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</a:rPr>
              <a:t>三个真实反例：为什么不能只测界面？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6400800"/>
            <a:ext cx="1124712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6C757D"/>
                </a:solidFill>
              </a:rPr>
              <a:t>接口测试培训 · TOS 存储管理</a:t>
            </a:r>
            <a:endParaRPr lang="en-US" sz="800" dirty="0"/>
          </a:p>
        </p:txBody>
      </p:sp>
      <p:sp>
        <p:nvSpPr>
          <p:cNvPr id="5" name="Shape 3"/>
          <p:cNvSpPr/>
          <p:nvPr/>
        </p:nvSpPr>
        <p:spPr>
          <a:xfrm>
            <a:off x="563728" y="1645920"/>
            <a:ext cx="3474720" cy="1645920"/>
          </a:xfrm>
          <a:prstGeom prst="roundRect">
            <a:avLst>
              <a:gd name="adj" fmla="val 8333"/>
            </a:avLst>
          </a:prstGeom>
          <a:solidFill>
            <a:srgbClr val="F8F9FA"/>
          </a:solidFill>
          <a:ln w="25400">
            <a:solidFill>
              <a:srgbClr val="C62828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63728" y="1645920"/>
            <a:ext cx="3474720" cy="411480"/>
          </a:xfrm>
          <a:prstGeom prst="rect">
            <a:avLst/>
          </a:prstGeom>
          <a:solidFill>
            <a:srgbClr val="C62828"/>
          </a:solidFill>
        </p:spPr>
      </p:sp>
      <p:sp>
        <p:nvSpPr>
          <p:cNvPr id="7" name="Text 5"/>
          <p:cNvSpPr/>
          <p:nvPr/>
        </p:nvSpPr>
        <p:spPr>
          <a:xfrm>
            <a:off x="700888" y="1691640"/>
            <a:ext cx="320040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</a:rPr>
              <a:t>例子一：后端正则允许空字符串创建存储池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746608" y="2148840"/>
            <a:ext cx="3108960" cy="105156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1B1B2F"/>
                </a:solidFill>
              </a:rPr>
              <a:t>校验规则有误，允许空字符串作为存储池名称创建。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1B1B2F"/>
                </a:solidFill>
              </a:rPr>
              <a:t>前端页面做了非空校验，功能测试发现不了。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1B1B2F"/>
                </a:solidFill>
              </a:rPr>
              <a:t>接口测试直接发空字符串 → 暴露后端校验漏洞。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358488" y="1645920"/>
            <a:ext cx="3474720" cy="1645920"/>
          </a:xfrm>
          <a:prstGeom prst="roundRect">
            <a:avLst>
              <a:gd name="adj" fmla="val 8333"/>
            </a:avLst>
          </a:prstGeom>
          <a:solidFill>
            <a:srgbClr val="F8F9FA"/>
          </a:solidFill>
          <a:ln w="25400">
            <a:solidFill>
              <a:srgbClr val="E65100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358488" y="1645920"/>
            <a:ext cx="3474720" cy="411480"/>
          </a:xfrm>
          <a:prstGeom prst="rect">
            <a:avLst/>
          </a:prstGeom>
          <a:solidFill>
            <a:srgbClr val="E65100"/>
          </a:solidFill>
        </p:spPr>
      </p:sp>
      <p:sp>
        <p:nvSpPr>
          <p:cNvPr id="11" name="Text 9"/>
          <p:cNvSpPr/>
          <p:nvPr/>
        </p:nvSpPr>
        <p:spPr>
          <a:xfrm>
            <a:off x="4495648" y="1691640"/>
            <a:ext cx="320040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</a:rPr>
              <a:t>例子二：后端 500 错误被前端吃掉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4541368" y="2148840"/>
            <a:ext cx="3108960" cy="105156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1B1B2F"/>
                </a:solidFill>
              </a:rPr>
              <a:t>后端崩溃返回 HTTP 500，但前端 try-catch 弹出「加载失败」提示。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1B1B2F"/>
                </a:solidFill>
              </a:rPr>
              <a:t>功能测试人员可能以为偶发网络问题、点掉就过了。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1B1B2F"/>
                </a:solidFill>
              </a:rPr>
              <a:t>接口测试直接看到 500 和错误堆栈 → 立刻定位后端 Bug。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8153248" y="1645920"/>
            <a:ext cx="3474720" cy="1645920"/>
          </a:xfrm>
          <a:prstGeom prst="roundRect">
            <a:avLst>
              <a:gd name="adj" fmla="val 8333"/>
            </a:avLst>
          </a:prstGeom>
          <a:solidFill>
            <a:srgbClr val="F8F9FA"/>
          </a:solidFill>
          <a:ln w="25400">
            <a:solidFill>
              <a:srgbClr val="C62828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8153248" y="1645920"/>
            <a:ext cx="3474720" cy="411480"/>
          </a:xfrm>
          <a:prstGeom prst="rect">
            <a:avLst/>
          </a:prstGeom>
          <a:solidFill>
            <a:srgbClr val="C62828"/>
          </a:solidFill>
        </p:spPr>
      </p:sp>
      <p:sp>
        <p:nvSpPr>
          <p:cNvPr id="15" name="Text 13"/>
          <p:cNvSpPr/>
          <p:nvPr/>
        </p:nvSpPr>
        <p:spPr>
          <a:xfrm>
            <a:off x="8290408" y="1691640"/>
            <a:ext cx="320040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</a:rPr>
              <a:t>例子三：curl 绕过界面权限限制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8336128" y="2148840"/>
            <a:ext cx="3108960" cy="105156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1B1B2F"/>
                </a:solidFill>
              </a:rPr>
              <a:t>前端判断「你是普通用户，不显示删除按钮」。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1B1B2F"/>
                </a:solidFill>
              </a:rPr>
              <a:t>但如果接口不校验权限，我用 curl 发一个 DELETE 请求 → 存储池没了。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1B1B2F"/>
                </a:solidFill>
              </a:rPr>
              <a:t>接口测试就是模拟这种情况，验证后端独立校验。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1371600" y="3657600"/>
            <a:ext cx="9418320" cy="1645920"/>
          </a:xfrm>
          <a:prstGeom prst="roundRect">
            <a:avLst>
              <a:gd name="adj" fmla="val 8333"/>
            </a:avLst>
          </a:prstGeom>
          <a:solidFill>
            <a:srgbClr val="FFEBEE"/>
          </a:solidFill>
          <a:ln w="25400">
            <a:solidFill>
              <a:srgbClr val="C62828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645920" y="3749040"/>
            <a:ext cx="886968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C62828"/>
                </a:solidFill>
              </a:rPr>
              <a:t>核心结论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1645920" y="4114800"/>
            <a:ext cx="8869680" cy="10972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B1B2F"/>
                </a:solidFill>
              </a:rPr>
              <a:t>这三个例子的共同点：都是「界面看不出来，只有直接调接口才能暴露」的问题。</a:t>
            </a:r>
            <a:endParaRPr lang="en-US" sz="1300" dirty="0"/>
          </a:p>
          <a:p>
            <a:pPr marL="0" indent="0">
              <a:buNone/>
            </a:pP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1B1B2F"/>
                </a:solidFill>
              </a:rPr>
              <a:t>功能测试和接口测试不是二选一——它们互补。界面测用户体验，接口测底层逻辑。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457200" y="6400800"/>
            <a:ext cx="1124712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6C757D"/>
                </a:solidFill>
              </a:rPr>
              <a:t>接口测试培训 · TOS 存储管理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2D6A4F"/>
          </a:solidFill>
        </p:spPr>
      </p:sp>
      <p:sp>
        <p:nvSpPr>
          <p:cNvPr id="3" name="Text 1"/>
          <p:cNvSpPr/>
          <p:nvPr/>
        </p:nvSpPr>
        <p:spPr>
          <a:xfrm>
            <a:off x="548640" y="137160"/>
            <a:ext cx="10972800" cy="6400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</a:rPr>
              <a:t>不测接口会怎样？两个致命场景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6400800"/>
            <a:ext cx="1124712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6C757D"/>
                </a:solidFill>
              </a:rPr>
              <a:t>接口测试培训 · TOS 存储管理</a:t>
            </a:r>
            <a:endParaRPr lang="en-US" sz="800" dirty="0"/>
          </a:p>
        </p:txBody>
      </p:sp>
      <p:sp>
        <p:nvSpPr>
          <p:cNvPr id="5" name="Shape 3"/>
          <p:cNvSpPr/>
          <p:nvPr/>
        </p:nvSpPr>
        <p:spPr>
          <a:xfrm>
            <a:off x="731520" y="1828800"/>
            <a:ext cx="10698480" cy="1828800"/>
          </a:xfrm>
          <a:prstGeom prst="roundRect">
            <a:avLst>
              <a:gd name="adj" fmla="val 7500"/>
            </a:avLst>
          </a:prstGeom>
          <a:solidFill>
            <a:srgbClr val="FFF3E0"/>
          </a:solidFill>
          <a:ln w="19050">
            <a:solidFill>
              <a:srgbClr val="E6510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05840" y="1920240"/>
            <a:ext cx="1024128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E65100"/>
                </a:solidFill>
              </a:rPr>
              <a:t>🔴  场景一：删了别人的存储池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1005840" y="2331720"/>
            <a:ext cx="10241280" cy="11887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B1B2F"/>
                </a:solidFill>
              </a:rPr>
              <a:t>前端页面上只显示自己的存储池。如果接口没做归属校验，攻击者直接改请求里的 UUID，删除别人的池子。</a:t>
            </a:r>
            <a:endParaRPr lang="en-US" sz="1300" dirty="0"/>
          </a:p>
          <a:p>
            <a:pPr marL="0" indent="0">
              <a:buNone/>
            </a:pP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1B1B2F"/>
                </a:solidFill>
              </a:rPr>
              <a:t>→ 功能测试永远发现不了，因为界面限制让你看不到别人的 UUID。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731520" y="4114800"/>
            <a:ext cx="10698480" cy="1828800"/>
          </a:xfrm>
          <a:prstGeom prst="roundRect">
            <a:avLst>
              <a:gd name="adj" fmla="val 7500"/>
            </a:avLst>
          </a:prstGeom>
          <a:solidFill>
            <a:srgbClr val="FFF3E0"/>
          </a:solidFill>
          <a:ln w="19050">
            <a:solidFill>
              <a:srgbClr val="E6510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005840" y="4206240"/>
            <a:ext cx="1024128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E65100"/>
                </a:solidFill>
              </a:rPr>
              <a:t>🔴  场景二：权限只在前端做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1005840" y="4617720"/>
            <a:ext cx="10241280" cy="11887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B1B2F"/>
                </a:solidFill>
              </a:rPr>
              <a:t>前端判断「你是普通用户，不显示删除按钮」。但接口如果没做独立校验，用 curl 发 DELETE 请求就能绕过。</a:t>
            </a:r>
            <a:endParaRPr lang="en-US" sz="1300" dirty="0"/>
          </a:p>
          <a:p>
            <a:pPr marL="0" indent="0">
              <a:buNone/>
            </a:pP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1B1B2F"/>
                </a:solidFill>
              </a:rPr>
              <a:t>→ 这叫「前端校验不可信」——后端必须独立校验一遍，接口测试就是验证这个「必须」。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457200" y="6400800"/>
            <a:ext cx="1124712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6C757D"/>
                </a:solidFill>
              </a:rPr>
              <a:t>接口测试培训 · TOS 存储管理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2D6A4F"/>
          </a:solidFill>
        </p:spPr>
      </p:sp>
      <p:sp>
        <p:nvSpPr>
          <p:cNvPr id="3" name="Text 1"/>
          <p:cNvSpPr/>
          <p:nvPr/>
        </p:nvSpPr>
        <p:spPr>
          <a:xfrm>
            <a:off x="548640" y="137160"/>
            <a:ext cx="10972800" cy="6400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</a:rPr>
              <a:t>接口测试的根本原则：前端校验不可信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6400800"/>
            <a:ext cx="1124712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6C757D"/>
                </a:solidFill>
              </a:rPr>
              <a:t>接口测试培训 · TOS 存储管理</a:t>
            </a:r>
            <a:endParaRPr lang="en-US" sz="800" dirty="0"/>
          </a:p>
        </p:txBody>
      </p:sp>
      <p:sp>
        <p:nvSpPr>
          <p:cNvPr id="5" name="Shape 3"/>
          <p:cNvSpPr/>
          <p:nvPr/>
        </p:nvSpPr>
        <p:spPr>
          <a:xfrm>
            <a:off x="914400" y="1645920"/>
            <a:ext cx="5029200" cy="3840480"/>
          </a:xfrm>
          <a:prstGeom prst="roundRect">
            <a:avLst>
              <a:gd name="adj" fmla="val 3571"/>
            </a:avLst>
          </a:prstGeom>
          <a:solidFill>
            <a:srgbClr val="E8F5E9"/>
          </a:solidFill>
          <a:ln w="25400">
            <a:solidFill>
              <a:srgbClr val="2D6A4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188720" y="1783080"/>
            <a:ext cx="4572000" cy="5029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D6A4F"/>
                </a:solidFill>
              </a:rPr>
              <a:t>✅ 接口测试要验证的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188720" y="2377440"/>
            <a:ext cx="4572000" cy="5029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1188720" y="2971800"/>
            <a:ext cx="4572000" cy="5029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188720" y="3566160"/>
            <a:ext cx="4572000" cy="5029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1188720" y="4160520"/>
            <a:ext cx="4572000" cy="5029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6217920" y="1645920"/>
            <a:ext cx="5029200" cy="3840480"/>
          </a:xfrm>
          <a:prstGeom prst="roundRect">
            <a:avLst>
              <a:gd name="adj" fmla="val 3571"/>
            </a:avLst>
          </a:prstGeom>
          <a:solidFill>
            <a:srgbClr val="FFEBEE"/>
          </a:solidFill>
          <a:ln w="25400">
            <a:solidFill>
              <a:srgbClr val="C6282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492240" y="1783080"/>
            <a:ext cx="4572000" cy="5029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C62828"/>
                </a:solidFill>
              </a:rPr>
              <a:t>❌ 常见误区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6492240" y="2377440"/>
            <a:ext cx="4572000" cy="5029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6492240" y="2971800"/>
            <a:ext cx="4572000" cy="5029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6492240" y="3566160"/>
            <a:ext cx="4572000" cy="5029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6492240" y="4160520"/>
            <a:ext cx="4572000" cy="5029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457200" y="6400800"/>
            <a:ext cx="1124712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6C757D"/>
                </a:solidFill>
              </a:rPr>
              <a:t>接口测试培训 · TOS 存储管理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2D6A4F"/>
          </a:solidFill>
        </p:spPr>
      </p:sp>
      <p:sp>
        <p:nvSpPr>
          <p:cNvPr id="3" name="Text 1"/>
          <p:cNvSpPr/>
          <p:nvPr/>
        </p:nvSpPr>
        <p:spPr>
          <a:xfrm>
            <a:off x="548640" y="137160"/>
            <a:ext cx="10972800" cy="6400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</a:rPr>
              <a:t>接口测试标准工作流程（8 步）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6400800"/>
            <a:ext cx="1124712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6C757D"/>
                </a:solidFill>
              </a:rPr>
              <a:t>接口测试培训 · TOS 存储管理</a:t>
            </a:r>
            <a:endParaRPr lang="en-US" sz="800" dirty="0"/>
          </a:p>
        </p:txBody>
      </p:sp>
      <p:sp>
        <p:nvSpPr>
          <p:cNvPr id="5" name="Shape 3"/>
          <p:cNvSpPr/>
          <p:nvPr/>
        </p:nvSpPr>
        <p:spPr>
          <a:xfrm>
            <a:off x="289408" y="1828800"/>
            <a:ext cx="2560320" cy="1188720"/>
          </a:xfrm>
          <a:prstGeom prst="roundRect">
            <a:avLst>
              <a:gd name="adj" fmla="val 7692"/>
            </a:avLst>
          </a:prstGeom>
          <a:solidFill>
            <a:srgbClr val="2D6A4F"/>
          </a:solidFill>
        </p:spPr>
      </p:sp>
      <p:sp>
        <p:nvSpPr>
          <p:cNvPr id="6" name="Text 4"/>
          <p:cNvSpPr/>
          <p:nvPr/>
        </p:nvSpPr>
        <p:spPr>
          <a:xfrm>
            <a:off x="426568" y="1920240"/>
            <a:ext cx="2286000" cy="10058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① 看懂接口定义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接口干什么？要什么参数？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3306928" y="1828800"/>
            <a:ext cx="2560320" cy="1188720"/>
          </a:xfrm>
          <a:prstGeom prst="roundRect">
            <a:avLst>
              <a:gd name="adj" fmla="val 7692"/>
            </a:avLst>
          </a:prstGeom>
          <a:solidFill>
            <a:srgbClr val="40916C"/>
          </a:solidFill>
        </p:spPr>
      </p:sp>
      <p:sp>
        <p:nvSpPr>
          <p:cNvPr id="8" name="Text 6"/>
          <p:cNvSpPr/>
          <p:nvPr/>
        </p:nvSpPr>
        <p:spPr>
          <a:xfrm>
            <a:off x="3444088" y="1920240"/>
            <a:ext cx="2286000" cy="10058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② 拿到认证凭证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登录 → Cookie / Token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6324448" y="1828800"/>
            <a:ext cx="2560320" cy="1188720"/>
          </a:xfrm>
          <a:prstGeom prst="roundRect">
            <a:avLst>
              <a:gd name="adj" fmla="val 7692"/>
            </a:avLst>
          </a:prstGeom>
          <a:solidFill>
            <a:srgbClr val="2D6A4F"/>
          </a:solidFill>
        </p:spPr>
      </p:sp>
      <p:sp>
        <p:nvSpPr>
          <p:cNvPr id="10" name="Text 8"/>
          <p:cNvSpPr/>
          <p:nvPr/>
        </p:nvSpPr>
        <p:spPr>
          <a:xfrm>
            <a:off x="6461608" y="1920240"/>
            <a:ext cx="2286000" cy="10058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③ 设计测试场景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正向/反向/边界/权限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9341968" y="1828800"/>
            <a:ext cx="2560320" cy="1188720"/>
          </a:xfrm>
          <a:prstGeom prst="roundRect">
            <a:avLst>
              <a:gd name="adj" fmla="val 7692"/>
            </a:avLst>
          </a:prstGeom>
          <a:solidFill>
            <a:srgbClr val="40916C"/>
          </a:solidFill>
        </p:spPr>
      </p:sp>
      <p:sp>
        <p:nvSpPr>
          <p:cNvPr id="12" name="Text 10"/>
          <p:cNvSpPr/>
          <p:nvPr/>
        </p:nvSpPr>
        <p:spPr>
          <a:xfrm>
            <a:off x="9479128" y="1920240"/>
            <a:ext cx="2286000" cy="10058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④ 写入 Excel 用例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15 字段标准模板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289408" y="3566160"/>
            <a:ext cx="2560320" cy="1188720"/>
          </a:xfrm>
          <a:prstGeom prst="roundRect">
            <a:avLst>
              <a:gd name="adj" fmla="val 7692"/>
            </a:avLst>
          </a:prstGeom>
          <a:solidFill>
            <a:srgbClr val="2D6A4F"/>
          </a:solidFill>
        </p:spPr>
      </p:sp>
      <p:sp>
        <p:nvSpPr>
          <p:cNvPr id="14" name="Text 12"/>
          <p:cNvSpPr/>
          <p:nvPr/>
        </p:nvSpPr>
        <p:spPr>
          <a:xfrm>
            <a:off x="426568" y="3657600"/>
            <a:ext cx="2286000" cy="10058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⑤ Apifox 执行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真调，不是模拟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3306928" y="3566160"/>
            <a:ext cx="2560320" cy="1188720"/>
          </a:xfrm>
          <a:prstGeom prst="roundRect">
            <a:avLst>
              <a:gd name="adj" fmla="val 7692"/>
            </a:avLst>
          </a:prstGeom>
          <a:solidFill>
            <a:srgbClr val="40916C"/>
          </a:solidFill>
        </p:spPr>
      </p:sp>
      <p:sp>
        <p:nvSpPr>
          <p:cNvPr id="16" name="Text 14"/>
          <p:cNvSpPr/>
          <p:nvPr/>
        </p:nvSpPr>
        <p:spPr>
          <a:xfrm>
            <a:off x="3444088" y="3657600"/>
            <a:ext cx="2286000" cy="10058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⑥ 回填实际结果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完整响应体，不允许「正常」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6324448" y="3566160"/>
            <a:ext cx="2560320" cy="1188720"/>
          </a:xfrm>
          <a:prstGeom prst="roundRect">
            <a:avLst>
              <a:gd name="adj" fmla="val 7692"/>
            </a:avLst>
          </a:prstGeom>
          <a:solidFill>
            <a:srgbClr val="2D6A4F"/>
          </a:solidFill>
        </p:spPr>
      </p:sp>
      <p:sp>
        <p:nvSpPr>
          <p:cNvPr id="18" name="Text 16"/>
          <p:cNvSpPr/>
          <p:nvPr/>
        </p:nvSpPr>
        <p:spPr>
          <a:xfrm>
            <a:off x="6461608" y="3657600"/>
            <a:ext cx="2286000" cy="10058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⑦ 判定 PASS/FAIL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对比预期 vs 实际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9341968" y="3566160"/>
            <a:ext cx="2560320" cy="1188720"/>
          </a:xfrm>
          <a:prstGeom prst="roundRect">
            <a:avLst>
              <a:gd name="adj" fmla="val 7692"/>
            </a:avLst>
          </a:prstGeom>
          <a:solidFill>
            <a:srgbClr val="40916C"/>
          </a:solidFill>
        </p:spPr>
      </p:sp>
      <p:sp>
        <p:nvSpPr>
          <p:cNvPr id="20" name="Text 18"/>
          <p:cNvSpPr/>
          <p:nvPr/>
        </p:nvSpPr>
        <p:spPr>
          <a:xfrm>
            <a:off x="9479128" y="3657600"/>
            <a:ext cx="2286000" cy="10058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⑧ 失败提 Bug + 回归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731520" y="5303520"/>
            <a:ext cx="1069848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2D6A4F"/>
                </a:solidFill>
              </a:rPr>
              <a:t>今天演示：以 GET /v2/storage/overview 为例，串 ②→③→④→⑤→⑥→⑦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457200" y="6400800"/>
            <a:ext cx="1124712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6C757D"/>
                </a:solidFill>
              </a:rPr>
              <a:t>接口测试培训 · TOS 存储管理</a:t>
            </a:r>
            <a:endParaRPr lang="en-US" sz="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2D6A4F"/>
          </a:solidFill>
        </p:spPr>
      </p:sp>
      <p:sp>
        <p:nvSpPr>
          <p:cNvPr id="3" name="Text 1"/>
          <p:cNvSpPr/>
          <p:nvPr/>
        </p:nvSpPr>
        <p:spPr>
          <a:xfrm>
            <a:off x="548640" y="137160"/>
            <a:ext cx="10972800" cy="6400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</a:rPr>
              <a:t>演示接口：GET /v2/storage/overview（存储概览）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6400800"/>
            <a:ext cx="1124712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6C757D"/>
                </a:solidFill>
              </a:rPr>
              <a:t>接口测试培训 · TOS 存储管理</a:t>
            </a:r>
            <a:endParaRPr lang="en-US" sz="800" dirty="0"/>
          </a:p>
        </p:txBody>
      </p:sp>
      <p:sp>
        <p:nvSpPr>
          <p:cNvPr id="5" name="Shape 3"/>
          <p:cNvSpPr/>
          <p:nvPr/>
        </p:nvSpPr>
        <p:spPr>
          <a:xfrm>
            <a:off x="731520" y="1645920"/>
            <a:ext cx="2286000" cy="384048"/>
          </a:xfrm>
          <a:prstGeom prst="rect">
            <a:avLst/>
          </a:prstGeom>
          <a:solidFill>
            <a:srgbClr val="2D6A4F"/>
          </a:solidFill>
          <a:ln w="6350">
            <a:solidFill>
              <a:srgbClr val="DEE2E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22960" y="1691640"/>
            <a:ext cx="2103120" cy="29260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</a:rPr>
              <a:t>属性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3017520" y="1645920"/>
            <a:ext cx="8229600" cy="384048"/>
          </a:xfrm>
          <a:prstGeom prst="rect">
            <a:avLst/>
          </a:prstGeom>
          <a:solidFill>
            <a:srgbClr val="2D6A4F"/>
          </a:solidFill>
          <a:ln w="6350">
            <a:solidFill>
              <a:srgbClr val="DEE2E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108960" y="1691640"/>
            <a:ext cx="8046720" cy="29260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</a:rPr>
              <a:t>值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731520" y="2029968"/>
            <a:ext cx="2286000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DEE2E6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22960" y="2075688"/>
            <a:ext cx="2103120" cy="29260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2D6A4F"/>
                </a:solidFill>
              </a:rPr>
              <a:t>方法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3017520" y="2029968"/>
            <a:ext cx="8229600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DEE2E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108960" y="2075688"/>
            <a:ext cx="8046720" cy="29260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B1B2F"/>
                </a:solidFill>
              </a:rPr>
              <a:t>GET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731520" y="2414016"/>
            <a:ext cx="2286000" cy="384048"/>
          </a:xfrm>
          <a:prstGeom prst="rect">
            <a:avLst/>
          </a:prstGeom>
          <a:solidFill>
            <a:srgbClr val="F8F9FA"/>
          </a:solidFill>
          <a:ln w="6350">
            <a:solidFill>
              <a:srgbClr val="DEE2E6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22960" y="2459736"/>
            <a:ext cx="2103120" cy="29260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2D6A4F"/>
                </a:solidFill>
              </a:rPr>
              <a:t>路径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3017520" y="2414016"/>
            <a:ext cx="8229600" cy="384048"/>
          </a:xfrm>
          <a:prstGeom prst="rect">
            <a:avLst/>
          </a:prstGeom>
          <a:solidFill>
            <a:srgbClr val="F8F9FA"/>
          </a:solidFill>
          <a:ln w="6350">
            <a:solidFill>
              <a:srgbClr val="DEE2E6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108960" y="2459736"/>
            <a:ext cx="8046720" cy="29260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B1B2F"/>
                </a:solidFill>
              </a:rPr>
              <a:t>/v2/storage/overview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731520" y="2798064"/>
            <a:ext cx="2286000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DEE2E6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22960" y="2843784"/>
            <a:ext cx="2103120" cy="29260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2D6A4F"/>
                </a:solidFill>
              </a:rPr>
              <a:t>请求参数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3017520" y="2798064"/>
            <a:ext cx="8229600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DEE2E6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108960" y="2843784"/>
            <a:ext cx="8046720" cy="29260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B1B2F"/>
                </a:solidFill>
              </a:rPr>
              <a:t>无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731520" y="3182112"/>
            <a:ext cx="2286000" cy="384048"/>
          </a:xfrm>
          <a:prstGeom prst="rect">
            <a:avLst/>
          </a:prstGeom>
          <a:solidFill>
            <a:srgbClr val="F8F9FA"/>
          </a:solidFill>
          <a:ln w="6350">
            <a:solidFill>
              <a:srgbClr val="DEE2E6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822960" y="3227832"/>
            <a:ext cx="2103120" cy="29260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2D6A4F"/>
                </a:solidFill>
              </a:rPr>
              <a:t>鉴权方式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3017520" y="3182112"/>
            <a:ext cx="8229600" cy="384048"/>
          </a:xfrm>
          <a:prstGeom prst="rect">
            <a:avLst/>
          </a:prstGeom>
          <a:solidFill>
            <a:srgbClr val="F8F9FA"/>
          </a:solidFill>
          <a:ln w="6350">
            <a:solidFill>
              <a:srgbClr val="DEE2E6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108960" y="3227832"/>
            <a:ext cx="8046720" cy="29260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B1B2F"/>
                </a:solidFill>
              </a:rPr>
              <a:t>Cookie + X-Csrf-Token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731520" y="3566160"/>
            <a:ext cx="2286000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DEE2E6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822960" y="3611880"/>
            <a:ext cx="2103120" cy="29260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2D6A4F"/>
                </a:solidFill>
              </a:rPr>
              <a:t>响应格式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3017520" y="3566160"/>
            <a:ext cx="8229600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DEE2E6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3108960" y="3611880"/>
            <a:ext cx="8046720" cy="29260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B1B2F"/>
                </a:solidFill>
              </a:rPr>
              <a:t>JSON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731520" y="3950208"/>
            <a:ext cx="2286000" cy="384048"/>
          </a:xfrm>
          <a:prstGeom prst="rect">
            <a:avLst/>
          </a:prstGeom>
          <a:solidFill>
            <a:srgbClr val="F8F9FA"/>
          </a:solidFill>
          <a:ln w="6350">
            <a:solidFill>
              <a:srgbClr val="DEE2E6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822960" y="3995928"/>
            <a:ext cx="2103120" cy="29260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2D6A4F"/>
                </a:solidFill>
              </a:rPr>
              <a:t>响应结构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3017520" y="3950208"/>
            <a:ext cx="8229600" cy="384048"/>
          </a:xfrm>
          <a:prstGeom prst="rect">
            <a:avLst/>
          </a:prstGeom>
          <a:solidFill>
            <a:srgbClr val="F8F9FA"/>
          </a:solidFill>
          <a:ln w="6350">
            <a:solidFill>
              <a:srgbClr val="DEE2E6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3108960" y="3995928"/>
            <a:ext cx="8046720" cy="29260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B1B2F"/>
                </a:solidFill>
              </a:rPr>
              <a:t>is_login, code, code_num, data[], time, code_msg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731520" y="4334256"/>
            <a:ext cx="2286000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DEE2E6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822960" y="4379976"/>
            <a:ext cx="2103120" cy="29260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2D6A4F"/>
                </a:solidFill>
              </a:rPr>
              <a:t>为什么选它</a:t>
            </a:r>
            <a:endParaRPr lang="en-US" sz="1000" dirty="0"/>
          </a:p>
        </p:txBody>
      </p:sp>
      <p:sp>
        <p:nvSpPr>
          <p:cNvPr id="35" name="Shape 33"/>
          <p:cNvSpPr/>
          <p:nvPr/>
        </p:nvSpPr>
        <p:spPr>
          <a:xfrm>
            <a:off x="3017520" y="4334256"/>
            <a:ext cx="8229600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DEE2E6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3108960" y="4379976"/>
            <a:ext cx="8046720" cy="29260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B1B2F"/>
                </a:solidFill>
              </a:rPr>
              <a:t>只读、安全、可反复执行、依赖简单（仅需登录凭证）</a:t>
            </a:r>
            <a:endParaRPr lang="en-US" sz="1000" dirty="0"/>
          </a:p>
        </p:txBody>
      </p:sp>
      <p:sp>
        <p:nvSpPr>
          <p:cNvPr id="37" name="Text 35"/>
          <p:cNvSpPr/>
          <p:nvPr/>
        </p:nvSpPr>
        <p:spPr>
          <a:xfrm>
            <a:off x="731520" y="5486400"/>
            <a:ext cx="1069848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6C757D"/>
                </a:solidFill>
              </a:rPr>
              <a:t>关键原则：演示接口选只读、无副作用、依赖少的，保证现场执行万无一失。</a:t>
            </a:r>
            <a:endParaRPr lang="en-US" sz="1200" dirty="0"/>
          </a:p>
        </p:txBody>
      </p:sp>
      <p:sp>
        <p:nvSpPr>
          <p:cNvPr id="38" name="Text 36"/>
          <p:cNvSpPr/>
          <p:nvPr/>
        </p:nvSpPr>
        <p:spPr>
          <a:xfrm>
            <a:off x="457200" y="6400800"/>
            <a:ext cx="1124712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6C757D"/>
                </a:solidFill>
              </a:rPr>
              <a:t>接口测试培训 · TOS 存储管理</a:t>
            </a:r>
            <a:endParaRPr lang="en-US" sz="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2D6A4F"/>
          </a:solidFill>
        </p:spPr>
      </p:sp>
      <p:sp>
        <p:nvSpPr>
          <p:cNvPr id="3" name="Text 1"/>
          <p:cNvSpPr/>
          <p:nvPr/>
        </p:nvSpPr>
        <p:spPr>
          <a:xfrm>
            <a:off x="548640" y="137160"/>
            <a:ext cx="10972800" cy="6400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</a:rPr>
              <a:t>第二步：登录拿凭证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6400800"/>
            <a:ext cx="1124712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6C757D"/>
                </a:solidFill>
              </a:rPr>
              <a:t>接口测试培训 · TOS 存储管理</a:t>
            </a:r>
            <a:endParaRPr lang="en-US" sz="800" dirty="0"/>
          </a:p>
        </p:txBody>
      </p:sp>
      <p:sp>
        <p:nvSpPr>
          <p:cNvPr id="5" name="Shape 3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2D6A4F"/>
          </a:solidFill>
        </p:spPr>
      </p:sp>
      <p:sp>
        <p:nvSpPr>
          <p:cNvPr id="6" name="Text 4"/>
          <p:cNvSpPr/>
          <p:nvPr/>
        </p:nvSpPr>
        <p:spPr>
          <a:xfrm>
            <a:off x="548640" y="137160"/>
            <a:ext cx="10972800" cy="6400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457200" y="6400800"/>
            <a:ext cx="1124712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6C757D"/>
                </a:solidFill>
              </a:rPr>
              <a:t>接口测试培训 · TOS 存储管理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731520" y="1463040"/>
            <a:ext cx="10515600" cy="448056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40916C"/>
                </a:solidFill>
              </a:rPr>
              <a:t>Apifox 操作流程</a:t>
            </a:r>
            <a:endParaRPr lang="en-US" sz="18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1B1B2F"/>
                </a:solidFill>
              </a:rPr>
              <a:t>打开 Apifox → 找到「超级管理员登录」接口（POST /v2/user/login）</a:t>
            </a:r>
            <a:endParaRPr lang="en-US" sz="18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1B1B2F"/>
                </a:solidFill>
              </a:rPr>
              <a:t>请求体填入管理员账号密码，点击 Send</a:t>
            </a:r>
            <a:endParaRPr lang="en-US" sz="18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1B1B2F"/>
                </a:solidFill>
              </a:rPr>
              <a:t>查看响应：确认 HTTP 200、code=true、code_num=0</a:t>
            </a:r>
            <a:endParaRPr lang="en-US" sz="18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1B1B2F"/>
                </a:solidFill>
              </a:rPr>
              <a:t>后置脚本自动从响应提取三个值：</a:t>
            </a:r>
            <a:endParaRPr lang="en-US" sz="1800" dirty="0"/>
          </a:p>
          <a:p>
            <a:pPr marL="685800" lvl="1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1B1B2F"/>
                </a:solidFill>
              </a:rPr>
              <a:t>TMSESSNAME（Session 标识）</a:t>
            </a:r>
            <a:endParaRPr lang="en-US" sz="1800" dirty="0"/>
          </a:p>
          <a:p>
            <a:pPr marL="685800" lvl="1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1B1B2F"/>
                </a:solidFill>
              </a:rPr>
              <a:t>tos_current_username（当前用户名）</a:t>
            </a:r>
            <a:endParaRPr lang="en-US" sz="1800" dirty="0"/>
          </a:p>
          <a:p>
            <a:pPr marL="685800" lvl="1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1B1B2F"/>
                </a:solidFill>
              </a:rPr>
              <a:t>X-Csrf-Token（CSRF 防护令牌）</a:t>
            </a:r>
            <a:endParaRPr lang="en-US" sz="18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1B1B2F"/>
                </a:solidFill>
              </a:rPr>
              <a:t>脚本拼接完整 Cookie 并存到环境变量 → 后续接口用 {{Cookie}} 引用</a:t>
            </a:r>
            <a:endParaRPr lang="en-US" sz="18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1B1B2F"/>
                </a:solidFill>
              </a:rPr>
              <a:t>同理执行「普通用户登录」，存到独立变量 NormalUserCookie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1124712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6C757D"/>
                </a:solidFill>
              </a:rPr>
              <a:t>接口测试培训 · TOS 存储管理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731520" y="5120640"/>
            <a:ext cx="10698480" cy="640080"/>
          </a:xfrm>
          <a:prstGeom prst="roundRect">
            <a:avLst>
              <a:gd name="adj" fmla="val 14286"/>
            </a:avLst>
          </a:prstGeom>
          <a:solidFill>
            <a:srgbClr val="FFF3E0"/>
          </a:solidFill>
          <a:ln w="12700">
            <a:solidFill>
              <a:srgbClr val="E6510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005840" y="5212080"/>
            <a:ext cx="1014984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E65100"/>
                </a:solidFill>
              </a:rPr>
              <a:t>⚠ 注意：Cookie 有过期时间。如果后续接口全部返回 403 → 第一步重新登录刷新凭证。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457200" y="6400800"/>
            <a:ext cx="1124712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6C757D"/>
                </a:solidFill>
              </a:rPr>
              <a:t>接口测试培训 · TOS 存储管理</a:t>
            </a:r>
            <a:endParaRPr lang="en-US" sz="8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2D6A4F"/>
          </a:solidFill>
        </p:spPr>
      </p:sp>
      <p:sp>
        <p:nvSpPr>
          <p:cNvPr id="3" name="Text 1"/>
          <p:cNvSpPr/>
          <p:nvPr/>
        </p:nvSpPr>
        <p:spPr>
          <a:xfrm>
            <a:off x="548640" y="137160"/>
            <a:ext cx="10972800" cy="6400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</a:rPr>
              <a:t>第三步：设计测试场景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6400800"/>
            <a:ext cx="1124712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6C757D"/>
                </a:solidFill>
              </a:rPr>
              <a:t>接口测试培训 · TOS 存储管理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731520" y="1371600"/>
            <a:ext cx="1069848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6C757D"/>
                </a:solidFill>
              </a:rPr>
              <a:t>方法：AI 辅助分析 + 人工审查。把接口定义喂给 AI，列出正向/反向/边界/业务场景。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731520" y="2103120"/>
            <a:ext cx="1828800" cy="347472"/>
          </a:xfrm>
          <a:prstGeom prst="roundRect">
            <a:avLst>
              <a:gd name="adj" fmla="val 26316"/>
            </a:avLst>
          </a:prstGeom>
          <a:solidFill>
            <a:srgbClr val="2D6A4F"/>
          </a:solidFill>
        </p:spPr>
      </p:sp>
      <p:sp>
        <p:nvSpPr>
          <p:cNvPr id="7" name="Text 5"/>
          <p:cNvSpPr/>
          <p:nvPr/>
        </p:nvSpPr>
        <p:spPr>
          <a:xfrm>
            <a:off x="731520" y="2103120"/>
            <a:ext cx="1828800" cy="34747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正向场景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2743200" y="2103120"/>
            <a:ext cx="8961120" cy="34747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B1B2F"/>
                </a:solidFill>
              </a:rPr>
              <a:t>① 已登录超级管理员，系统有存储池 → 200，data 非空数组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2743200" y="2468880"/>
            <a:ext cx="8961120" cy="34747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B1B2F"/>
                </a:solidFill>
              </a:rPr>
              <a:t>② 已登录超级管理员，系统无存储池 → 200，data 为空数组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731520" y="3200400"/>
            <a:ext cx="1828800" cy="347472"/>
          </a:xfrm>
          <a:prstGeom prst="roundRect">
            <a:avLst>
              <a:gd name="adj" fmla="val 26316"/>
            </a:avLst>
          </a:prstGeom>
          <a:solidFill>
            <a:srgbClr val="C62828"/>
          </a:solidFill>
        </p:spPr>
      </p:sp>
      <p:sp>
        <p:nvSpPr>
          <p:cNvPr id="11" name="Text 9"/>
          <p:cNvSpPr/>
          <p:nvPr/>
        </p:nvSpPr>
        <p:spPr>
          <a:xfrm>
            <a:off x="731520" y="3200400"/>
            <a:ext cx="1828800" cy="34747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反向场景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2743200" y="3200400"/>
            <a:ext cx="8961120" cy="34747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B1B2F"/>
                </a:solidFill>
              </a:rPr>
              <a:t>③ 未登录（不带 Cookie）→ 403，is_login=false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2743200" y="3566160"/>
            <a:ext cx="8961120" cy="34747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B1B2F"/>
                </a:solidFill>
              </a:rPr>
              <a:t>④ 普通用户（无存储管理权限）→ 返回空数据或无权限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2743200" y="3931920"/>
            <a:ext cx="8961120" cy="34747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B1B2F"/>
                </a:solidFill>
              </a:rPr>
              <a:t>⑤ X-Csrf-Token 篡改为错误值 → 403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731520" y="4663440"/>
            <a:ext cx="1828800" cy="347472"/>
          </a:xfrm>
          <a:prstGeom prst="roundRect">
            <a:avLst>
              <a:gd name="adj" fmla="val 26316"/>
            </a:avLst>
          </a:prstGeom>
          <a:solidFill>
            <a:srgbClr val="E65100"/>
          </a:solidFill>
        </p:spPr>
      </p:sp>
      <p:sp>
        <p:nvSpPr>
          <p:cNvPr id="16" name="Text 14"/>
          <p:cNvSpPr/>
          <p:nvPr/>
        </p:nvSpPr>
        <p:spPr>
          <a:xfrm>
            <a:off x="731520" y="4663440"/>
            <a:ext cx="1828800" cy="34747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边界/异常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2743200" y="4663440"/>
            <a:ext cx="8961120" cy="34747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B1B2F"/>
                </a:solidFill>
              </a:rPr>
              <a:t>⑥ 请求方法错误（POST 访问 GET 接口）→ 405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2743200" y="5029200"/>
            <a:ext cx="8961120" cy="34747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B1B2F"/>
                </a:solidFill>
              </a:rPr>
              <a:t>⑦ Token 即将过期时调用 → 仍正常返回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731520" y="5943600"/>
            <a:ext cx="1069848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D6A4F"/>
                </a:solidFill>
              </a:rPr>
              <a:t>一个查询接口至少 7 条用例。有参数（分页/筛选）的 GET 接口 → 基础 8 条 + 参数 6 条。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457200" y="6400800"/>
            <a:ext cx="1124712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6C757D"/>
                </a:solidFill>
              </a:rPr>
              <a:t>接口测试培训 · TOS 存储管理</a:t>
            </a:r>
            <a:endParaRPr lang="en-US" sz="8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2D6A4F"/>
          </a:solidFill>
        </p:spPr>
      </p:sp>
      <p:sp>
        <p:nvSpPr>
          <p:cNvPr id="3" name="Text 1"/>
          <p:cNvSpPr/>
          <p:nvPr/>
        </p:nvSpPr>
        <p:spPr>
          <a:xfrm>
            <a:off x="548640" y="137160"/>
            <a:ext cx="10972800" cy="6400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</a:rPr>
              <a:t>第四步：写入 Excel 用例（15 字段标准模板）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6400800"/>
            <a:ext cx="1124712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6C757D"/>
                </a:solidFill>
              </a:rPr>
              <a:t>接口测试培训 · TOS 存储管理</a:t>
            </a:r>
            <a:endParaRPr lang="en-US" sz="800" dirty="0"/>
          </a:p>
        </p:txBody>
      </p:sp>
      <p:sp>
        <p:nvSpPr>
          <p:cNvPr id="5" name="Shape 3"/>
          <p:cNvSpPr/>
          <p:nvPr/>
        </p:nvSpPr>
        <p:spPr>
          <a:xfrm>
            <a:off x="640080" y="1554480"/>
            <a:ext cx="1645920" cy="384048"/>
          </a:xfrm>
          <a:prstGeom prst="rect">
            <a:avLst/>
          </a:prstGeom>
          <a:solidFill>
            <a:srgbClr val="2D6A4F"/>
          </a:solidFill>
          <a:ln w="6350">
            <a:solidFill>
              <a:srgbClr val="DEE2E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31520" y="1600200"/>
            <a:ext cx="1463040" cy="29260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</a:rPr>
              <a:t>字段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2286000" y="1554480"/>
            <a:ext cx="4572000" cy="384048"/>
          </a:xfrm>
          <a:prstGeom prst="rect">
            <a:avLst/>
          </a:prstGeom>
          <a:solidFill>
            <a:srgbClr val="2D6A4F"/>
          </a:solidFill>
          <a:ln w="6350">
            <a:solidFill>
              <a:srgbClr val="DEE2E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377440" y="1600200"/>
            <a:ext cx="4389120" cy="29260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</a:rPr>
              <a:t>示例值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6858000" y="1554480"/>
            <a:ext cx="4572000" cy="384048"/>
          </a:xfrm>
          <a:prstGeom prst="rect">
            <a:avLst/>
          </a:prstGeom>
          <a:solidFill>
            <a:srgbClr val="2D6A4F"/>
          </a:solidFill>
          <a:ln w="6350">
            <a:solidFill>
              <a:srgbClr val="DEE2E6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949440" y="1600200"/>
            <a:ext cx="4389120" cy="29260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</a:rPr>
              <a:t>说明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40080" y="1938528"/>
            <a:ext cx="1645920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DEE2E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31520" y="1984248"/>
            <a:ext cx="1463040" cy="29260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2D6A4F"/>
                </a:solidFill>
              </a:rPr>
              <a:t>用例ID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2286000" y="1938528"/>
            <a:ext cx="4572000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DEE2E6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377440" y="1984248"/>
            <a:ext cx="4389120" cy="29260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B1B2F"/>
                </a:solidFill>
              </a:rPr>
              <a:t>TC_STORAGE_OVERVIEW_001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6858000" y="1938528"/>
            <a:ext cx="4572000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DEE2E6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949440" y="1984248"/>
            <a:ext cx="4389120" cy="29260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B1B2F"/>
                </a:solidFill>
              </a:rPr>
              <a:t>TC_模块_功能_序号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640080" y="2322576"/>
            <a:ext cx="1645920" cy="384048"/>
          </a:xfrm>
          <a:prstGeom prst="rect">
            <a:avLst/>
          </a:prstGeom>
          <a:solidFill>
            <a:srgbClr val="F8F9FA"/>
          </a:solidFill>
          <a:ln w="6350">
            <a:solidFill>
              <a:srgbClr val="DEE2E6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31520" y="2368296"/>
            <a:ext cx="1463040" cy="29260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2D6A4F"/>
                </a:solidFill>
              </a:rPr>
              <a:t>所属模块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2286000" y="2322576"/>
            <a:ext cx="4572000" cy="384048"/>
          </a:xfrm>
          <a:prstGeom prst="rect">
            <a:avLst/>
          </a:prstGeom>
          <a:solidFill>
            <a:srgbClr val="F8F9FA"/>
          </a:solidFill>
          <a:ln w="6350">
            <a:solidFill>
              <a:srgbClr val="DEE2E6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2377440" y="2368296"/>
            <a:ext cx="4389120" cy="29260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B1B2F"/>
                </a:solidFill>
              </a:rPr>
              <a:t>概要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6858000" y="2322576"/>
            <a:ext cx="4572000" cy="384048"/>
          </a:xfrm>
          <a:prstGeom prst="rect">
            <a:avLst/>
          </a:prstGeom>
          <a:solidFill>
            <a:srgbClr val="F8F9FA"/>
          </a:solidFill>
          <a:ln w="6350">
            <a:solidFill>
              <a:srgbClr val="DEE2E6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949440" y="2368296"/>
            <a:ext cx="4389120" cy="29260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B1B2F"/>
                </a:solidFill>
              </a:rPr>
              <a:t>对应 Apifox 文件夹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640080" y="2706624"/>
            <a:ext cx="1645920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DEE2E6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731520" y="2752344"/>
            <a:ext cx="1463040" cy="29260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2D6A4F"/>
                </a:solidFill>
              </a:rPr>
              <a:t>接口地址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2286000" y="2706624"/>
            <a:ext cx="4572000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DEE2E6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2377440" y="2752344"/>
            <a:ext cx="4389120" cy="29260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B1B2F"/>
                </a:solidFill>
              </a:rPr>
              <a:t>/v2/storage/overview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6858000" y="2706624"/>
            <a:ext cx="4572000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DEE2E6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949440" y="2752344"/>
            <a:ext cx="4389120" cy="29260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B1B2F"/>
                </a:solidFill>
              </a:rPr>
              <a:t>写路径，不写域名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640080" y="3090672"/>
            <a:ext cx="1645920" cy="384048"/>
          </a:xfrm>
          <a:prstGeom prst="rect">
            <a:avLst/>
          </a:prstGeom>
          <a:solidFill>
            <a:srgbClr val="F8F9FA"/>
          </a:solidFill>
          <a:ln w="6350">
            <a:solidFill>
              <a:srgbClr val="DEE2E6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731520" y="3136392"/>
            <a:ext cx="1463040" cy="29260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2D6A4F"/>
                </a:solidFill>
              </a:rPr>
              <a:t>关联功能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2286000" y="3090672"/>
            <a:ext cx="4572000" cy="384048"/>
          </a:xfrm>
          <a:prstGeom prst="rect">
            <a:avLst/>
          </a:prstGeom>
          <a:solidFill>
            <a:srgbClr val="F8F9FA"/>
          </a:solidFill>
          <a:ln w="6350">
            <a:solidFill>
              <a:srgbClr val="DEE2E6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2377440" y="3136392"/>
            <a:ext cx="4389120" cy="29260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B1B2F"/>
                </a:solidFill>
              </a:rPr>
              <a:t>存储概览信息获取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6858000" y="3090672"/>
            <a:ext cx="4572000" cy="384048"/>
          </a:xfrm>
          <a:prstGeom prst="rect">
            <a:avLst/>
          </a:prstGeom>
          <a:solidFill>
            <a:srgbClr val="F8F9FA"/>
          </a:solidFill>
          <a:ln w="6350">
            <a:solidFill>
              <a:srgbClr val="DEE2E6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6949440" y="3136392"/>
            <a:ext cx="4389120" cy="29260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B1B2F"/>
                </a:solidFill>
              </a:rPr>
              <a:t>业务描述，非技术描述</a:t>
            </a:r>
            <a:endParaRPr lang="en-US" sz="1000" dirty="0"/>
          </a:p>
        </p:txBody>
      </p:sp>
      <p:sp>
        <p:nvSpPr>
          <p:cNvPr id="35" name="Shape 33"/>
          <p:cNvSpPr/>
          <p:nvPr/>
        </p:nvSpPr>
        <p:spPr>
          <a:xfrm>
            <a:off x="640080" y="3474720"/>
            <a:ext cx="1645920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DEE2E6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731520" y="3520440"/>
            <a:ext cx="1463040" cy="29260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2D6A4F"/>
                </a:solidFill>
              </a:rPr>
              <a:t>优先级</a:t>
            </a:r>
            <a:endParaRPr lang="en-US" sz="1000" dirty="0"/>
          </a:p>
        </p:txBody>
      </p:sp>
      <p:sp>
        <p:nvSpPr>
          <p:cNvPr id="37" name="Shape 35"/>
          <p:cNvSpPr/>
          <p:nvPr/>
        </p:nvSpPr>
        <p:spPr>
          <a:xfrm>
            <a:off x="2286000" y="3474720"/>
            <a:ext cx="4572000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DEE2E6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2377440" y="3520440"/>
            <a:ext cx="4389120" cy="29260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B1B2F"/>
                </a:solidFill>
              </a:rPr>
              <a:t>P0</a:t>
            </a:r>
            <a:endParaRPr lang="en-US" sz="1000" dirty="0"/>
          </a:p>
        </p:txBody>
      </p:sp>
      <p:sp>
        <p:nvSpPr>
          <p:cNvPr id="39" name="Shape 37"/>
          <p:cNvSpPr/>
          <p:nvPr/>
        </p:nvSpPr>
        <p:spPr>
          <a:xfrm>
            <a:off x="6858000" y="3474720"/>
            <a:ext cx="4572000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DEE2E6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6949440" y="3520440"/>
            <a:ext cx="4389120" cy="29260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B1B2F"/>
                </a:solidFill>
              </a:rPr>
              <a:t>P0核心 / P1重要 / P2一般</a:t>
            </a:r>
            <a:endParaRPr lang="en-US" sz="1000" dirty="0"/>
          </a:p>
        </p:txBody>
      </p:sp>
      <p:sp>
        <p:nvSpPr>
          <p:cNvPr id="41" name="Shape 39"/>
          <p:cNvSpPr/>
          <p:nvPr/>
        </p:nvSpPr>
        <p:spPr>
          <a:xfrm>
            <a:off x="640080" y="3858768"/>
            <a:ext cx="1645920" cy="384048"/>
          </a:xfrm>
          <a:prstGeom prst="rect">
            <a:avLst/>
          </a:prstGeom>
          <a:solidFill>
            <a:srgbClr val="F8F9FA"/>
          </a:solidFill>
          <a:ln w="6350">
            <a:solidFill>
              <a:srgbClr val="DEE2E6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731520" y="3904488"/>
            <a:ext cx="1463040" cy="29260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2D6A4F"/>
                </a:solidFill>
              </a:rPr>
              <a:t>接口请求类型</a:t>
            </a:r>
            <a:endParaRPr lang="en-US" sz="1000" dirty="0"/>
          </a:p>
        </p:txBody>
      </p:sp>
      <p:sp>
        <p:nvSpPr>
          <p:cNvPr id="43" name="Shape 41"/>
          <p:cNvSpPr/>
          <p:nvPr/>
        </p:nvSpPr>
        <p:spPr>
          <a:xfrm>
            <a:off x="2286000" y="3858768"/>
            <a:ext cx="4572000" cy="384048"/>
          </a:xfrm>
          <a:prstGeom prst="rect">
            <a:avLst/>
          </a:prstGeom>
          <a:solidFill>
            <a:srgbClr val="F8F9FA"/>
          </a:solidFill>
          <a:ln w="6350">
            <a:solidFill>
              <a:srgbClr val="DEE2E6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2377440" y="3904488"/>
            <a:ext cx="4389120" cy="29260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B1B2F"/>
                </a:solidFill>
              </a:rPr>
              <a:t>GET</a:t>
            </a:r>
            <a:endParaRPr lang="en-US" sz="1000" dirty="0"/>
          </a:p>
        </p:txBody>
      </p:sp>
      <p:sp>
        <p:nvSpPr>
          <p:cNvPr id="45" name="Shape 43"/>
          <p:cNvSpPr/>
          <p:nvPr/>
        </p:nvSpPr>
        <p:spPr>
          <a:xfrm>
            <a:off x="6858000" y="3858768"/>
            <a:ext cx="4572000" cy="384048"/>
          </a:xfrm>
          <a:prstGeom prst="rect">
            <a:avLst/>
          </a:prstGeom>
          <a:solidFill>
            <a:srgbClr val="F8F9FA"/>
          </a:solidFill>
          <a:ln w="6350">
            <a:solidFill>
              <a:srgbClr val="DEE2E6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6949440" y="3904488"/>
            <a:ext cx="4389120" cy="29260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endParaRPr lang="en-US" sz="1000" dirty="0"/>
          </a:p>
        </p:txBody>
      </p:sp>
      <p:sp>
        <p:nvSpPr>
          <p:cNvPr id="47" name="Shape 45"/>
          <p:cNvSpPr/>
          <p:nvPr/>
        </p:nvSpPr>
        <p:spPr>
          <a:xfrm>
            <a:off x="640080" y="4242816"/>
            <a:ext cx="1645920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DEE2E6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731520" y="4288536"/>
            <a:ext cx="1463040" cy="29260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2D6A4F"/>
                </a:solidFill>
              </a:rPr>
              <a:t>请求头</a:t>
            </a:r>
            <a:endParaRPr lang="en-US" sz="1000" dirty="0"/>
          </a:p>
        </p:txBody>
      </p:sp>
      <p:sp>
        <p:nvSpPr>
          <p:cNvPr id="49" name="Shape 47"/>
          <p:cNvSpPr/>
          <p:nvPr/>
        </p:nvSpPr>
        <p:spPr>
          <a:xfrm>
            <a:off x="2286000" y="4242816"/>
            <a:ext cx="4572000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DEE2E6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2377440" y="4288536"/>
            <a:ext cx="4389120" cy="29260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B1B2F"/>
                </a:solidFill>
              </a:rPr>
              <a:t>Cookie: {{Cookie}}; X-Csrf-Token: {{X-Csrf-Token}}</a:t>
            </a:r>
            <a:endParaRPr lang="en-US" sz="1000" dirty="0"/>
          </a:p>
        </p:txBody>
      </p:sp>
      <p:sp>
        <p:nvSpPr>
          <p:cNvPr id="51" name="Shape 49"/>
          <p:cNvSpPr/>
          <p:nvPr/>
        </p:nvSpPr>
        <p:spPr>
          <a:xfrm>
            <a:off x="6858000" y="4242816"/>
            <a:ext cx="4572000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DEE2E6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6949440" y="4288536"/>
            <a:ext cx="4389120" cy="29260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B1B2F"/>
                </a:solidFill>
              </a:rPr>
              <a:t>用 {{}} 引用变量，执行时自动替换</a:t>
            </a:r>
            <a:endParaRPr lang="en-US" sz="1000" dirty="0"/>
          </a:p>
        </p:txBody>
      </p:sp>
      <p:sp>
        <p:nvSpPr>
          <p:cNvPr id="53" name="Shape 51"/>
          <p:cNvSpPr/>
          <p:nvPr/>
        </p:nvSpPr>
        <p:spPr>
          <a:xfrm>
            <a:off x="640080" y="4626864"/>
            <a:ext cx="1645920" cy="384048"/>
          </a:xfrm>
          <a:prstGeom prst="rect">
            <a:avLst/>
          </a:prstGeom>
          <a:solidFill>
            <a:srgbClr val="F8F9FA"/>
          </a:solidFill>
          <a:ln w="6350">
            <a:solidFill>
              <a:srgbClr val="DEE2E6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731520" y="4672584"/>
            <a:ext cx="1463040" cy="29260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2D6A4F"/>
                </a:solidFill>
              </a:rPr>
              <a:t>请求参数</a:t>
            </a:r>
            <a:endParaRPr lang="en-US" sz="1000" dirty="0"/>
          </a:p>
        </p:txBody>
      </p:sp>
      <p:sp>
        <p:nvSpPr>
          <p:cNvPr id="55" name="Shape 53"/>
          <p:cNvSpPr/>
          <p:nvPr/>
        </p:nvSpPr>
        <p:spPr>
          <a:xfrm>
            <a:off x="2286000" y="4626864"/>
            <a:ext cx="4572000" cy="384048"/>
          </a:xfrm>
          <a:prstGeom prst="rect">
            <a:avLst/>
          </a:prstGeom>
          <a:solidFill>
            <a:srgbClr val="F8F9FA"/>
          </a:solidFill>
          <a:ln w="6350">
            <a:solidFill>
              <a:srgbClr val="DEE2E6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2377440" y="4672584"/>
            <a:ext cx="4389120" cy="29260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B1B2F"/>
                </a:solidFill>
              </a:rPr>
              <a:t>无</a:t>
            </a:r>
            <a:endParaRPr lang="en-US" sz="1000" dirty="0"/>
          </a:p>
        </p:txBody>
      </p:sp>
      <p:sp>
        <p:nvSpPr>
          <p:cNvPr id="57" name="Shape 55"/>
          <p:cNvSpPr/>
          <p:nvPr/>
        </p:nvSpPr>
        <p:spPr>
          <a:xfrm>
            <a:off x="6858000" y="4626864"/>
            <a:ext cx="4572000" cy="384048"/>
          </a:xfrm>
          <a:prstGeom prst="rect">
            <a:avLst/>
          </a:prstGeom>
          <a:solidFill>
            <a:srgbClr val="F8F9FA"/>
          </a:solidFill>
          <a:ln w="6350">
            <a:solidFill>
              <a:srgbClr val="DEE2E6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6949440" y="4672584"/>
            <a:ext cx="4389120" cy="29260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B1B2F"/>
                </a:solidFill>
              </a:rPr>
              <a:t>无参数填「无」</a:t>
            </a:r>
            <a:endParaRPr lang="en-US" sz="1000" dirty="0"/>
          </a:p>
        </p:txBody>
      </p:sp>
      <p:sp>
        <p:nvSpPr>
          <p:cNvPr id="59" name="Shape 57"/>
          <p:cNvSpPr/>
          <p:nvPr/>
        </p:nvSpPr>
        <p:spPr>
          <a:xfrm>
            <a:off x="640080" y="5010912"/>
            <a:ext cx="1645920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DEE2E6"/>
            </a:solidFill>
            <a:prstDash val="solid"/>
          </a:ln>
        </p:spPr>
      </p:sp>
      <p:sp>
        <p:nvSpPr>
          <p:cNvPr id="60" name="Text 58"/>
          <p:cNvSpPr/>
          <p:nvPr/>
        </p:nvSpPr>
        <p:spPr>
          <a:xfrm>
            <a:off x="731520" y="5056632"/>
            <a:ext cx="1463040" cy="29260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2D6A4F"/>
                </a:solidFill>
              </a:rPr>
              <a:t>用例标题</a:t>
            </a:r>
            <a:endParaRPr lang="en-US" sz="1000" dirty="0"/>
          </a:p>
        </p:txBody>
      </p:sp>
      <p:sp>
        <p:nvSpPr>
          <p:cNvPr id="61" name="Shape 59"/>
          <p:cNvSpPr/>
          <p:nvPr/>
        </p:nvSpPr>
        <p:spPr>
          <a:xfrm>
            <a:off x="2286000" y="5010912"/>
            <a:ext cx="4572000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DEE2E6"/>
            </a:solidFill>
            <a:prstDash val="solid"/>
          </a:ln>
        </p:spPr>
      </p:sp>
      <p:sp>
        <p:nvSpPr>
          <p:cNvPr id="62" name="Text 60"/>
          <p:cNvSpPr/>
          <p:nvPr/>
        </p:nvSpPr>
        <p:spPr>
          <a:xfrm>
            <a:off x="2377440" y="5056632"/>
            <a:ext cx="4389120" cy="29260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B1B2F"/>
                </a:solidFill>
              </a:rPr>
              <a:t>正常获取存储概览信息（有存储池）</a:t>
            </a:r>
            <a:endParaRPr lang="en-US" sz="1000" dirty="0"/>
          </a:p>
        </p:txBody>
      </p:sp>
      <p:sp>
        <p:nvSpPr>
          <p:cNvPr id="63" name="Shape 61"/>
          <p:cNvSpPr/>
          <p:nvPr/>
        </p:nvSpPr>
        <p:spPr>
          <a:xfrm>
            <a:off x="6858000" y="5010912"/>
            <a:ext cx="4572000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DEE2E6"/>
            </a:solidFill>
            <a:prstDash val="solid"/>
          </a:ln>
        </p:spPr>
      </p:sp>
      <p:sp>
        <p:nvSpPr>
          <p:cNvPr id="64" name="Text 62"/>
          <p:cNvSpPr/>
          <p:nvPr/>
        </p:nvSpPr>
        <p:spPr>
          <a:xfrm>
            <a:off x="6949440" y="5056632"/>
            <a:ext cx="4389120" cy="29260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B1B2F"/>
                </a:solidFill>
              </a:rPr>
              <a:t>一句话说清测试场景</a:t>
            </a:r>
            <a:endParaRPr lang="en-US" sz="1000" dirty="0"/>
          </a:p>
        </p:txBody>
      </p:sp>
      <p:sp>
        <p:nvSpPr>
          <p:cNvPr id="65" name="Shape 63"/>
          <p:cNvSpPr/>
          <p:nvPr/>
        </p:nvSpPr>
        <p:spPr>
          <a:xfrm>
            <a:off x="640080" y="5394960"/>
            <a:ext cx="1645920" cy="384048"/>
          </a:xfrm>
          <a:prstGeom prst="rect">
            <a:avLst/>
          </a:prstGeom>
          <a:solidFill>
            <a:srgbClr val="F8F9FA"/>
          </a:solidFill>
          <a:ln w="6350">
            <a:solidFill>
              <a:srgbClr val="DEE2E6"/>
            </a:solidFill>
            <a:prstDash val="solid"/>
          </a:ln>
        </p:spPr>
      </p:sp>
      <p:sp>
        <p:nvSpPr>
          <p:cNvPr id="66" name="Text 64"/>
          <p:cNvSpPr/>
          <p:nvPr/>
        </p:nvSpPr>
        <p:spPr>
          <a:xfrm>
            <a:off x="731520" y="5440680"/>
            <a:ext cx="1463040" cy="29260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2D6A4F"/>
                </a:solidFill>
              </a:rPr>
              <a:t>前置条件</a:t>
            </a:r>
            <a:endParaRPr lang="en-US" sz="1000" dirty="0"/>
          </a:p>
        </p:txBody>
      </p:sp>
      <p:sp>
        <p:nvSpPr>
          <p:cNvPr id="67" name="Shape 65"/>
          <p:cNvSpPr/>
          <p:nvPr/>
        </p:nvSpPr>
        <p:spPr>
          <a:xfrm>
            <a:off x="2286000" y="5394960"/>
            <a:ext cx="4572000" cy="384048"/>
          </a:xfrm>
          <a:prstGeom prst="rect">
            <a:avLst/>
          </a:prstGeom>
          <a:solidFill>
            <a:srgbClr val="F8F9FA"/>
          </a:solidFill>
          <a:ln w="6350">
            <a:solidFill>
              <a:srgbClr val="DEE2E6"/>
            </a:solidFill>
            <a:prstDash val="solid"/>
          </a:ln>
        </p:spPr>
      </p:sp>
      <p:sp>
        <p:nvSpPr>
          <p:cNvPr id="68" name="Text 66"/>
          <p:cNvSpPr/>
          <p:nvPr/>
        </p:nvSpPr>
        <p:spPr>
          <a:xfrm>
            <a:off x="2377440" y="5440680"/>
            <a:ext cx="4389120" cy="29260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B1B2F"/>
                </a:solidFill>
              </a:rPr>
              <a:t>1.超级管理员已登录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1B1B2F"/>
                </a:solidFill>
              </a:rPr>
              <a:t>2.系统存在存储池</a:t>
            </a:r>
            <a:endParaRPr lang="en-US" sz="1000" dirty="0"/>
          </a:p>
        </p:txBody>
      </p:sp>
      <p:sp>
        <p:nvSpPr>
          <p:cNvPr id="69" name="Shape 67"/>
          <p:cNvSpPr/>
          <p:nvPr/>
        </p:nvSpPr>
        <p:spPr>
          <a:xfrm>
            <a:off x="6858000" y="5394960"/>
            <a:ext cx="4572000" cy="384048"/>
          </a:xfrm>
          <a:prstGeom prst="rect">
            <a:avLst/>
          </a:prstGeom>
          <a:solidFill>
            <a:srgbClr val="F8F9FA"/>
          </a:solidFill>
          <a:ln w="6350">
            <a:solidFill>
              <a:srgbClr val="DEE2E6"/>
            </a:solidFill>
            <a:prstDash val="solid"/>
          </a:ln>
        </p:spPr>
      </p:sp>
      <p:sp>
        <p:nvSpPr>
          <p:cNvPr id="70" name="Text 68"/>
          <p:cNvSpPr/>
          <p:nvPr/>
        </p:nvSpPr>
        <p:spPr>
          <a:xfrm>
            <a:off x="6949440" y="5440680"/>
            <a:ext cx="4389120" cy="29260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B1B2F"/>
                </a:solidFill>
              </a:rPr>
              <a:t>编号列出，可复现</a:t>
            </a:r>
            <a:endParaRPr lang="en-US" sz="1000" dirty="0"/>
          </a:p>
        </p:txBody>
      </p:sp>
      <p:sp>
        <p:nvSpPr>
          <p:cNvPr id="71" name="Shape 69"/>
          <p:cNvSpPr/>
          <p:nvPr/>
        </p:nvSpPr>
        <p:spPr>
          <a:xfrm>
            <a:off x="640080" y="5779008"/>
            <a:ext cx="1645920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DEE2E6"/>
            </a:solidFill>
            <a:prstDash val="solid"/>
          </a:ln>
        </p:spPr>
      </p:sp>
      <p:sp>
        <p:nvSpPr>
          <p:cNvPr id="72" name="Text 70"/>
          <p:cNvSpPr/>
          <p:nvPr/>
        </p:nvSpPr>
        <p:spPr>
          <a:xfrm>
            <a:off x="731520" y="5824728"/>
            <a:ext cx="1463040" cy="29260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2D6A4F"/>
                </a:solidFill>
              </a:rPr>
              <a:t>操作步骤</a:t>
            </a:r>
            <a:endParaRPr lang="en-US" sz="1000" dirty="0"/>
          </a:p>
        </p:txBody>
      </p:sp>
      <p:sp>
        <p:nvSpPr>
          <p:cNvPr id="73" name="Shape 71"/>
          <p:cNvSpPr/>
          <p:nvPr/>
        </p:nvSpPr>
        <p:spPr>
          <a:xfrm>
            <a:off x="2286000" y="5779008"/>
            <a:ext cx="4572000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DEE2E6"/>
            </a:solidFill>
            <a:prstDash val="solid"/>
          </a:ln>
        </p:spPr>
      </p:sp>
      <p:sp>
        <p:nvSpPr>
          <p:cNvPr id="74" name="Text 72"/>
          <p:cNvSpPr/>
          <p:nvPr/>
        </p:nvSpPr>
        <p:spPr>
          <a:xfrm>
            <a:off x="2377440" y="5824728"/>
            <a:ext cx="4389120" cy="29260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B1B2F"/>
                </a:solidFill>
              </a:rPr>
              <a:t>1.GET 访问 /v2/storage/overview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1B1B2F"/>
                </a:solidFill>
              </a:rPr>
              <a:t>2.携带有效凭证</a:t>
            </a:r>
            <a:endParaRPr lang="en-US" sz="1000" dirty="0"/>
          </a:p>
        </p:txBody>
      </p:sp>
      <p:sp>
        <p:nvSpPr>
          <p:cNvPr id="75" name="Shape 73"/>
          <p:cNvSpPr/>
          <p:nvPr/>
        </p:nvSpPr>
        <p:spPr>
          <a:xfrm>
            <a:off x="6858000" y="5779008"/>
            <a:ext cx="4572000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DEE2E6"/>
            </a:solidFill>
            <a:prstDash val="solid"/>
          </a:ln>
        </p:spPr>
      </p:sp>
      <p:sp>
        <p:nvSpPr>
          <p:cNvPr id="76" name="Text 74"/>
          <p:cNvSpPr/>
          <p:nvPr/>
        </p:nvSpPr>
        <p:spPr>
          <a:xfrm>
            <a:off x="6949440" y="5824728"/>
            <a:ext cx="4389120" cy="29260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B1B2F"/>
                </a:solidFill>
              </a:rPr>
              <a:t>可操作、可复现</a:t>
            </a:r>
            <a:endParaRPr lang="en-US" sz="1000" dirty="0"/>
          </a:p>
        </p:txBody>
      </p:sp>
      <p:sp>
        <p:nvSpPr>
          <p:cNvPr id="77" name="Shape 75"/>
          <p:cNvSpPr/>
          <p:nvPr/>
        </p:nvSpPr>
        <p:spPr>
          <a:xfrm>
            <a:off x="640080" y="6163056"/>
            <a:ext cx="1645920" cy="384048"/>
          </a:xfrm>
          <a:prstGeom prst="rect">
            <a:avLst/>
          </a:prstGeom>
          <a:solidFill>
            <a:srgbClr val="F8F9FA"/>
          </a:solidFill>
          <a:ln w="6350">
            <a:solidFill>
              <a:srgbClr val="DEE2E6"/>
            </a:solidFill>
            <a:prstDash val="solid"/>
          </a:ln>
        </p:spPr>
      </p:sp>
      <p:sp>
        <p:nvSpPr>
          <p:cNvPr id="78" name="Text 76"/>
          <p:cNvSpPr/>
          <p:nvPr/>
        </p:nvSpPr>
        <p:spPr>
          <a:xfrm>
            <a:off x="731520" y="6208776"/>
            <a:ext cx="1463040" cy="29260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2D6A4F"/>
                </a:solidFill>
              </a:rPr>
              <a:t>实际结果</a:t>
            </a:r>
            <a:endParaRPr lang="en-US" sz="1000" dirty="0"/>
          </a:p>
        </p:txBody>
      </p:sp>
      <p:sp>
        <p:nvSpPr>
          <p:cNvPr id="79" name="Shape 77"/>
          <p:cNvSpPr/>
          <p:nvPr/>
        </p:nvSpPr>
        <p:spPr>
          <a:xfrm>
            <a:off x="2286000" y="6163056"/>
            <a:ext cx="4572000" cy="384048"/>
          </a:xfrm>
          <a:prstGeom prst="rect">
            <a:avLst/>
          </a:prstGeom>
          <a:solidFill>
            <a:srgbClr val="F8F9FA"/>
          </a:solidFill>
          <a:ln w="6350">
            <a:solidFill>
              <a:srgbClr val="DEE2E6"/>
            </a:solidFill>
            <a:prstDash val="solid"/>
          </a:ln>
        </p:spPr>
      </p:sp>
      <p:sp>
        <p:nvSpPr>
          <p:cNvPr id="80" name="Text 78"/>
          <p:cNvSpPr/>
          <p:nvPr/>
        </p:nvSpPr>
        <p:spPr>
          <a:xfrm>
            <a:off x="2377440" y="6208776"/>
            <a:ext cx="4389120" cy="29260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B1B2F"/>
                </a:solidFill>
              </a:rPr>
              <a:t>（执行后填入完整响应体）</a:t>
            </a:r>
            <a:endParaRPr lang="en-US" sz="1000" dirty="0"/>
          </a:p>
        </p:txBody>
      </p:sp>
      <p:sp>
        <p:nvSpPr>
          <p:cNvPr id="81" name="Shape 79"/>
          <p:cNvSpPr/>
          <p:nvPr/>
        </p:nvSpPr>
        <p:spPr>
          <a:xfrm>
            <a:off x="6858000" y="6163056"/>
            <a:ext cx="4572000" cy="384048"/>
          </a:xfrm>
          <a:prstGeom prst="rect">
            <a:avLst/>
          </a:prstGeom>
          <a:solidFill>
            <a:srgbClr val="F8F9FA"/>
          </a:solidFill>
          <a:ln w="6350">
            <a:solidFill>
              <a:srgbClr val="DEE2E6"/>
            </a:solidFill>
            <a:prstDash val="solid"/>
          </a:ln>
        </p:spPr>
      </p:sp>
      <p:sp>
        <p:nvSpPr>
          <p:cNvPr id="82" name="Text 80"/>
          <p:cNvSpPr/>
          <p:nvPr/>
        </p:nvSpPr>
        <p:spPr>
          <a:xfrm>
            <a:off x="6949440" y="6208776"/>
            <a:ext cx="4389120" cy="29260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B1B2F"/>
                </a:solidFill>
              </a:rPr>
              <a:t>禁止只写「正常」等描述性文字</a:t>
            </a:r>
            <a:endParaRPr lang="en-US" sz="1000" dirty="0"/>
          </a:p>
        </p:txBody>
      </p:sp>
      <p:sp>
        <p:nvSpPr>
          <p:cNvPr id="83" name="Shape 81"/>
          <p:cNvSpPr/>
          <p:nvPr/>
        </p:nvSpPr>
        <p:spPr>
          <a:xfrm>
            <a:off x="640080" y="6547104"/>
            <a:ext cx="1645920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DEE2E6"/>
            </a:solidFill>
            <a:prstDash val="solid"/>
          </a:ln>
        </p:spPr>
      </p:sp>
      <p:sp>
        <p:nvSpPr>
          <p:cNvPr id="84" name="Text 82"/>
          <p:cNvSpPr/>
          <p:nvPr/>
        </p:nvSpPr>
        <p:spPr>
          <a:xfrm>
            <a:off x="731520" y="6592824"/>
            <a:ext cx="1463040" cy="29260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2D6A4F"/>
                </a:solidFill>
              </a:rPr>
              <a:t>预期结果</a:t>
            </a:r>
            <a:endParaRPr lang="en-US" sz="1000" dirty="0"/>
          </a:p>
        </p:txBody>
      </p:sp>
      <p:sp>
        <p:nvSpPr>
          <p:cNvPr id="85" name="Shape 83"/>
          <p:cNvSpPr/>
          <p:nvPr/>
        </p:nvSpPr>
        <p:spPr>
          <a:xfrm>
            <a:off x="2286000" y="6547104"/>
            <a:ext cx="4572000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DEE2E6"/>
            </a:solidFill>
            <a:prstDash val="solid"/>
          </a:ln>
        </p:spPr>
      </p:sp>
      <p:sp>
        <p:nvSpPr>
          <p:cNvPr id="86" name="Text 84"/>
          <p:cNvSpPr/>
          <p:nvPr/>
        </p:nvSpPr>
        <p:spPr>
          <a:xfrm>
            <a:off x="2377440" y="6592824"/>
            <a:ext cx="4389120" cy="29260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B1B2F"/>
                </a:solidFill>
              </a:rPr>
              <a:t>HTTP 200; code=true; data为数组且长度&gt;0; 元素含health/uuid/total; time&gt;0</a:t>
            </a:r>
            <a:endParaRPr lang="en-US" sz="1000" dirty="0"/>
          </a:p>
        </p:txBody>
      </p:sp>
      <p:sp>
        <p:nvSpPr>
          <p:cNvPr id="87" name="Shape 85"/>
          <p:cNvSpPr/>
          <p:nvPr/>
        </p:nvSpPr>
        <p:spPr>
          <a:xfrm>
            <a:off x="6858000" y="6547104"/>
            <a:ext cx="4572000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DEE2E6"/>
            </a:solidFill>
            <a:prstDash val="solid"/>
          </a:ln>
        </p:spPr>
      </p:sp>
      <p:sp>
        <p:nvSpPr>
          <p:cNvPr id="88" name="Text 86"/>
          <p:cNvSpPr/>
          <p:nvPr/>
        </p:nvSpPr>
        <p:spPr>
          <a:xfrm>
            <a:off x="6949440" y="6592824"/>
            <a:ext cx="4389120" cy="29260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B1B2F"/>
                </a:solidFill>
              </a:rPr>
              <a:t>≤10行，只点关键字段和约束</a:t>
            </a:r>
            <a:endParaRPr lang="en-US" sz="1000" dirty="0"/>
          </a:p>
        </p:txBody>
      </p:sp>
      <p:sp>
        <p:nvSpPr>
          <p:cNvPr id="89" name="Shape 87"/>
          <p:cNvSpPr/>
          <p:nvPr/>
        </p:nvSpPr>
        <p:spPr>
          <a:xfrm>
            <a:off x="640080" y="6931152"/>
            <a:ext cx="1645920" cy="384048"/>
          </a:xfrm>
          <a:prstGeom prst="rect">
            <a:avLst/>
          </a:prstGeom>
          <a:solidFill>
            <a:srgbClr val="F8F9FA"/>
          </a:solidFill>
          <a:ln w="6350">
            <a:solidFill>
              <a:srgbClr val="DEE2E6"/>
            </a:solidFill>
            <a:prstDash val="solid"/>
          </a:ln>
        </p:spPr>
      </p:sp>
      <p:sp>
        <p:nvSpPr>
          <p:cNvPr id="90" name="Text 88"/>
          <p:cNvSpPr/>
          <p:nvPr/>
        </p:nvSpPr>
        <p:spPr>
          <a:xfrm>
            <a:off x="731520" y="6976872"/>
            <a:ext cx="1463040" cy="29260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2D6A4F"/>
                </a:solidFill>
              </a:rPr>
              <a:t>备注</a:t>
            </a:r>
            <a:endParaRPr lang="en-US" sz="1000" dirty="0"/>
          </a:p>
        </p:txBody>
      </p:sp>
      <p:sp>
        <p:nvSpPr>
          <p:cNvPr id="91" name="Shape 89"/>
          <p:cNvSpPr/>
          <p:nvPr/>
        </p:nvSpPr>
        <p:spPr>
          <a:xfrm>
            <a:off x="2286000" y="6931152"/>
            <a:ext cx="4572000" cy="384048"/>
          </a:xfrm>
          <a:prstGeom prst="rect">
            <a:avLst/>
          </a:prstGeom>
          <a:solidFill>
            <a:srgbClr val="F8F9FA"/>
          </a:solidFill>
          <a:ln w="6350">
            <a:solidFill>
              <a:srgbClr val="DEE2E6"/>
            </a:solidFill>
            <a:prstDash val="solid"/>
          </a:ln>
        </p:spPr>
      </p:sp>
      <p:sp>
        <p:nvSpPr>
          <p:cNvPr id="92" name="Text 90"/>
          <p:cNvSpPr/>
          <p:nvPr/>
        </p:nvSpPr>
        <p:spPr>
          <a:xfrm>
            <a:off x="2377440" y="6976872"/>
            <a:ext cx="4389120" cy="29260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endParaRPr lang="en-US" sz="1000" dirty="0"/>
          </a:p>
        </p:txBody>
      </p:sp>
      <p:sp>
        <p:nvSpPr>
          <p:cNvPr id="93" name="Shape 91"/>
          <p:cNvSpPr/>
          <p:nvPr/>
        </p:nvSpPr>
        <p:spPr>
          <a:xfrm>
            <a:off x="6858000" y="6931152"/>
            <a:ext cx="4572000" cy="384048"/>
          </a:xfrm>
          <a:prstGeom prst="rect">
            <a:avLst/>
          </a:prstGeom>
          <a:solidFill>
            <a:srgbClr val="F8F9FA"/>
          </a:solidFill>
          <a:ln w="6350">
            <a:solidFill>
              <a:srgbClr val="DEE2E6"/>
            </a:solidFill>
            <a:prstDash val="solid"/>
          </a:ln>
        </p:spPr>
      </p:sp>
      <p:sp>
        <p:nvSpPr>
          <p:cNvPr id="94" name="Text 92"/>
          <p:cNvSpPr/>
          <p:nvPr/>
        </p:nvSpPr>
        <p:spPr>
          <a:xfrm>
            <a:off x="6949440" y="6976872"/>
            <a:ext cx="4389120" cy="29260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B1B2F"/>
                </a:solidFill>
              </a:rPr>
              <a:t>补充说明</a:t>
            </a:r>
            <a:endParaRPr lang="en-US" sz="1000" dirty="0"/>
          </a:p>
        </p:txBody>
      </p:sp>
      <p:sp>
        <p:nvSpPr>
          <p:cNvPr id="95" name="Shape 93"/>
          <p:cNvSpPr/>
          <p:nvPr/>
        </p:nvSpPr>
        <p:spPr>
          <a:xfrm>
            <a:off x="640080" y="7315200"/>
            <a:ext cx="1645920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DEE2E6"/>
            </a:solidFill>
            <a:prstDash val="solid"/>
          </a:ln>
        </p:spPr>
      </p:sp>
      <p:sp>
        <p:nvSpPr>
          <p:cNvPr id="96" name="Text 94"/>
          <p:cNvSpPr/>
          <p:nvPr/>
        </p:nvSpPr>
        <p:spPr>
          <a:xfrm>
            <a:off x="731520" y="7360920"/>
            <a:ext cx="1463040" cy="29260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2D6A4F"/>
                </a:solidFill>
              </a:rPr>
              <a:t>cURL</a:t>
            </a:r>
            <a:endParaRPr lang="en-US" sz="1000" dirty="0"/>
          </a:p>
        </p:txBody>
      </p:sp>
      <p:sp>
        <p:nvSpPr>
          <p:cNvPr id="97" name="Shape 95"/>
          <p:cNvSpPr/>
          <p:nvPr/>
        </p:nvSpPr>
        <p:spPr>
          <a:xfrm>
            <a:off x="2286000" y="7315200"/>
            <a:ext cx="4572000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DEE2E6"/>
            </a:solidFill>
            <a:prstDash val="solid"/>
          </a:ln>
        </p:spPr>
      </p:sp>
      <p:sp>
        <p:nvSpPr>
          <p:cNvPr id="98" name="Text 96"/>
          <p:cNvSpPr/>
          <p:nvPr/>
        </p:nvSpPr>
        <p:spPr>
          <a:xfrm>
            <a:off x="2377440" y="7360920"/>
            <a:ext cx="4389120" cy="29260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B1B2F"/>
                </a:solidFill>
              </a:rPr>
              <a:t>（执行后填入）</a:t>
            </a:r>
            <a:endParaRPr lang="en-US" sz="1000" dirty="0"/>
          </a:p>
        </p:txBody>
      </p:sp>
      <p:sp>
        <p:nvSpPr>
          <p:cNvPr id="99" name="Shape 97"/>
          <p:cNvSpPr/>
          <p:nvPr/>
        </p:nvSpPr>
        <p:spPr>
          <a:xfrm>
            <a:off x="6858000" y="7315200"/>
            <a:ext cx="4572000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DEE2E6"/>
            </a:solidFill>
            <a:prstDash val="solid"/>
          </a:ln>
        </p:spPr>
      </p:sp>
      <p:sp>
        <p:nvSpPr>
          <p:cNvPr id="100" name="Text 98"/>
          <p:cNvSpPr/>
          <p:nvPr/>
        </p:nvSpPr>
        <p:spPr>
          <a:xfrm>
            <a:off x="6949440" y="7360920"/>
            <a:ext cx="4389120" cy="29260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endParaRPr lang="en-US" sz="1000" dirty="0"/>
          </a:p>
        </p:txBody>
      </p:sp>
      <p:sp>
        <p:nvSpPr>
          <p:cNvPr id="101" name="Text 99"/>
          <p:cNvSpPr/>
          <p:nvPr/>
        </p:nvSpPr>
        <p:spPr>
          <a:xfrm>
            <a:off x="731520" y="8247888"/>
            <a:ext cx="1069848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6C757D"/>
                </a:solidFill>
              </a:rPr>
              <a:t>关键原则：请求头中的 Cookie/Token 用 {{变量名}} 引用，不硬编码；预期结果 ≤10 行，只点关键字段。</a:t>
            </a:r>
            <a:endParaRPr lang="en-US" sz="1200" dirty="0"/>
          </a:p>
        </p:txBody>
      </p:sp>
      <p:sp>
        <p:nvSpPr>
          <p:cNvPr id="102" name="Text 100"/>
          <p:cNvSpPr/>
          <p:nvPr/>
        </p:nvSpPr>
        <p:spPr>
          <a:xfrm>
            <a:off x="457200" y="6400800"/>
            <a:ext cx="1124712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6C757D"/>
                </a:solidFill>
              </a:rPr>
              <a:t>接口测试培训 · TOS 存储管理</a:t>
            </a:r>
            <a:endParaRPr lang="en-US" sz="8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2D6A4F"/>
          </a:solidFill>
        </p:spPr>
      </p:sp>
      <p:sp>
        <p:nvSpPr>
          <p:cNvPr id="3" name="Text 1"/>
          <p:cNvSpPr/>
          <p:nvPr/>
        </p:nvSpPr>
        <p:spPr>
          <a:xfrm>
            <a:off x="548640" y="137160"/>
            <a:ext cx="10972800" cy="6400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</a:rPr>
              <a:t>预期结果写法：正确 vs 错误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6400800"/>
            <a:ext cx="1124712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6C757D"/>
                </a:solidFill>
              </a:rPr>
              <a:t>接口测试培训 · TOS 存储管理</a:t>
            </a:r>
            <a:endParaRPr lang="en-US" sz="800" dirty="0"/>
          </a:p>
        </p:txBody>
      </p:sp>
      <p:sp>
        <p:nvSpPr>
          <p:cNvPr id="5" name="Shape 3"/>
          <p:cNvSpPr/>
          <p:nvPr/>
        </p:nvSpPr>
        <p:spPr>
          <a:xfrm>
            <a:off x="731520" y="1645920"/>
            <a:ext cx="5120640" cy="2926080"/>
          </a:xfrm>
          <a:prstGeom prst="roundRect">
            <a:avLst>
              <a:gd name="adj" fmla="val 4688"/>
            </a:avLst>
          </a:prstGeom>
          <a:solidFill>
            <a:srgbClr val="FFEBEE"/>
          </a:solidFill>
          <a:ln w="25400">
            <a:solidFill>
              <a:srgbClr val="C6282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05840" y="1737360"/>
            <a:ext cx="457200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C62828"/>
                </a:solidFill>
              </a:rPr>
              <a:t>❌ 错误写法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005840" y="2103120"/>
            <a:ext cx="4572000" cy="22860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B1B2F"/>
                </a:solidFill>
              </a:rPr>
              <a:t>「返回正常数据」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1B1B2F"/>
                </a:solidFill>
              </a:rPr>
              <a:t>「功能正常」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1B1B2F"/>
                </a:solidFill>
              </a:rPr>
              <a:t>「结果符合预期」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1B1B2F"/>
                </a:solidFill>
              </a:rPr>
              <a:t>「返回200，有数据」</a:t>
            </a:r>
            <a:endParaRPr lang="en-US" sz="1200" dirty="0"/>
          </a:p>
          <a:p>
            <a:pPr marL="0" indent="0">
              <a:buNone/>
            </a:pP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1B1B2F"/>
                </a:solidFill>
              </a:rPr>
              <a:t>逐字段枚举几十行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1B1B2F"/>
                </a:solidFill>
              </a:rPr>
              <a:t>→ is_login=true, code=true,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1B1B2F"/>
                </a:solidFill>
              </a:rPr>
              <a:t>  code_num=0, data[0].health=999,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1B1B2F"/>
                </a:solidFill>
              </a:rPr>
              <a:t>  data[0].level=raid0, ……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6217920" y="1645920"/>
            <a:ext cx="5120640" cy="2926080"/>
          </a:xfrm>
          <a:prstGeom prst="roundRect">
            <a:avLst>
              <a:gd name="adj" fmla="val 4688"/>
            </a:avLst>
          </a:prstGeom>
          <a:solidFill>
            <a:srgbClr val="E8F5E9"/>
          </a:solidFill>
          <a:ln w="25400">
            <a:solidFill>
              <a:srgbClr val="2D6A4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492240" y="1737360"/>
            <a:ext cx="457200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D6A4F"/>
                </a:solidFill>
              </a:rPr>
              <a:t>✅ 正确写法（≤10 行）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6492240" y="2103120"/>
            <a:ext cx="4572000" cy="22860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B1B2F"/>
                </a:solidFill>
              </a:rPr>
              <a:t>1. HTTP 状态码 = 200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1B1B2F"/>
                </a:solidFill>
              </a:rPr>
              <a:t>2. 响应体为 JSON 格式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1B1B2F"/>
                </a:solidFill>
              </a:rPr>
              <a:t>3. is_login = true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1B1B2F"/>
                </a:solidFill>
              </a:rPr>
              <a:t>4. code = true, code_num = 0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1B1B2F"/>
                </a:solidFill>
              </a:rPr>
              <a:t>5. data 为数组，长度 &gt; 0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1B1B2F"/>
                </a:solidFill>
              </a:rPr>
              <a:t>6. 每个元素含 health、level、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1B1B2F"/>
                </a:solidFill>
              </a:rPr>
              <a:t>uuid、show_name、total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1B1B2F"/>
                </a:solidFill>
              </a:rPr>
              <a:t>7. time &gt; 0</a:t>
            </a:r>
            <a:endParaRPr lang="en-US" sz="1200" dirty="0"/>
          </a:p>
          <a:p>
            <a:pPr marL="0" indent="0">
              <a:buNone/>
            </a:pP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1B1B2F"/>
                </a:solidFill>
              </a:rPr>
              <a:t>只点关键字段、类型、核心约束。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1B1B2F"/>
                </a:solidFill>
              </a:rPr>
              <a:t>不逐字段罗列。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731520" y="4937760"/>
            <a:ext cx="1069848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D6A4F"/>
                </a:solidFill>
              </a:rPr>
              <a:t>规则：预期结果 ≤10 行，简洁明了，只点关键字段、类型和核心约束。不逐字段枚举，不写「正常」两个字。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457200" y="6400800"/>
            <a:ext cx="1124712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6C757D"/>
                </a:solidFill>
              </a:rPr>
              <a:t>接口测试培训 · TOS 存储管理</a:t>
            </a:r>
            <a:endParaRPr lang="en-US" sz="8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2D6A4F"/>
          </a:solidFill>
        </p:spPr>
      </p:sp>
      <p:sp>
        <p:nvSpPr>
          <p:cNvPr id="3" name="Text 1"/>
          <p:cNvSpPr/>
          <p:nvPr/>
        </p:nvSpPr>
        <p:spPr>
          <a:xfrm>
            <a:off x="548640" y="137160"/>
            <a:ext cx="10972800" cy="6400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</a:rPr>
              <a:t>第五步 &amp; 第六步：执行 + 回填实际结果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6400800"/>
            <a:ext cx="1124712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6C757D"/>
                </a:solidFill>
              </a:rPr>
              <a:t>接口测试培训 · TOS 存储管理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731520" y="1371600"/>
            <a:ext cx="1069848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C62828"/>
                </a:solidFill>
              </a:rPr>
              <a:t>核心原则：实际结果必须包含完整响应体，禁止仅描述性文字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2D6A4F"/>
          </a:solidFill>
        </p:spPr>
      </p:sp>
      <p:sp>
        <p:nvSpPr>
          <p:cNvPr id="7" name="Text 5"/>
          <p:cNvSpPr/>
          <p:nvPr/>
        </p:nvSpPr>
        <p:spPr>
          <a:xfrm>
            <a:off x="548640" y="137160"/>
            <a:ext cx="10972800" cy="6400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endParaRPr lang="en-US" sz="2800" dirty="0"/>
          </a:p>
        </p:txBody>
      </p:sp>
      <p:sp>
        <p:nvSpPr>
          <p:cNvPr id="8" name="Text 6"/>
          <p:cNvSpPr/>
          <p:nvPr/>
        </p:nvSpPr>
        <p:spPr>
          <a:xfrm>
            <a:off x="457200" y="6400800"/>
            <a:ext cx="1124712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6C757D"/>
                </a:solidFill>
              </a:rPr>
              <a:t>接口测试培训 · TOS 存储管理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731520" y="1920240"/>
            <a:ext cx="10515600" cy="402336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1B1B2F"/>
                </a:solidFill>
              </a:rPr>
              <a:t>确认 Apifox 环境变量 Cookie 有效（环境选择器选对）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1B1B2F"/>
                </a:solidFill>
              </a:rPr>
              <a:t>打开 overview 接口，点击 Send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1B1B2F"/>
                </a:solidFill>
              </a:rPr>
              <a:t>查看响应 → 状态码 200、is_login true、data 数组长度 &gt; 0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1B1B2F"/>
                </a:solidFill>
              </a:rPr>
              <a:t>将完整 JSON 响应体复制粘贴到 Excel 实际结果列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457200" y="6400800"/>
            <a:ext cx="1124712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6C757D"/>
                </a:solidFill>
              </a:rPr>
              <a:t>接口测试培训 · TOS 存储管理</a:t>
            </a:r>
            <a:endParaRPr lang="en-US" sz="800" dirty="0"/>
          </a:p>
        </p:txBody>
      </p:sp>
      <p:sp>
        <p:nvSpPr>
          <p:cNvPr id="11" name="Shape 9"/>
          <p:cNvSpPr/>
          <p:nvPr/>
        </p:nvSpPr>
        <p:spPr>
          <a:xfrm>
            <a:off x="914400" y="3931920"/>
            <a:ext cx="10332720" cy="2011680"/>
          </a:xfrm>
          <a:prstGeom prst="roundRect">
            <a:avLst>
              <a:gd name="adj" fmla="val 4545"/>
            </a:avLst>
          </a:prstGeom>
          <a:solidFill>
            <a:srgbClr val="F8F9FA"/>
          </a:solidFill>
          <a:ln w="12700">
            <a:solidFill>
              <a:srgbClr val="40916C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051560" y="3977640"/>
            <a:ext cx="100584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40916C"/>
                </a:solidFill>
              </a:rPr>
              <a:t>实际结果示例（完整响应体）：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1051560" y="4251960"/>
            <a:ext cx="10058400" cy="155448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1B1B2F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HTTP 200</a:t>
            </a:r>
            <a:endParaRPr lang="en-US" sz="1000" dirty="0"/>
          </a:p>
          <a:p>
            <a:pPr marL="0" indent="0">
              <a:buNone/>
            </a:pP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1B1B2F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{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1B1B2F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"is_login": true,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1B1B2F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"code": true,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1B1B2F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"code_num": 0,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1B1B2F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"data": [{ "health": 999, "level": "raid0", "uuid": "...", "show_name": "存储池1", ... }],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1B1B2F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"time": 0.034,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1B1B2F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"code_msg": ""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1B1B2F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}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731520" y="6126480"/>
            <a:ext cx="1069848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C62828"/>
                </a:solidFill>
              </a:rPr>
              <a:t>「正常返回」四个字 → 信息量为零，无法复现、无法比对、无法回溯。必须贴真实响应体。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0"/>
            <a:ext cx="1124712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6C757D"/>
                </a:solidFill>
              </a:rPr>
              <a:t>接口测试培训 · TOS 存储管理</a:t>
            </a:r>
            <a:endParaRPr lang="en-US" sz="8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2D6A4F"/>
          </a:solidFill>
        </p:spPr>
      </p:sp>
      <p:sp>
        <p:nvSpPr>
          <p:cNvPr id="3" name="Text 1"/>
          <p:cNvSpPr/>
          <p:nvPr/>
        </p:nvSpPr>
        <p:spPr>
          <a:xfrm>
            <a:off x="548640" y="137160"/>
            <a:ext cx="10972800" cy="6400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</a:rPr>
              <a:t>第七步：判定 PASS/FAIL（对比预期 vs 实际）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6400800"/>
            <a:ext cx="1124712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6C757D"/>
                </a:solidFill>
              </a:rPr>
              <a:t>接口测试培训 · TOS 存储管理</a:t>
            </a:r>
            <a:endParaRPr lang="en-US" sz="800" dirty="0"/>
          </a:p>
        </p:txBody>
      </p:sp>
      <p:sp>
        <p:nvSpPr>
          <p:cNvPr id="5" name="Shape 3"/>
          <p:cNvSpPr/>
          <p:nvPr/>
        </p:nvSpPr>
        <p:spPr>
          <a:xfrm>
            <a:off x="731520" y="1828800"/>
            <a:ext cx="2286000" cy="384048"/>
          </a:xfrm>
          <a:prstGeom prst="rect">
            <a:avLst/>
          </a:prstGeom>
          <a:solidFill>
            <a:srgbClr val="2D6A4F"/>
          </a:solidFill>
          <a:ln w="6350">
            <a:solidFill>
              <a:srgbClr val="DEE2E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22960" y="1874520"/>
            <a:ext cx="2103120" cy="29260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</a:rPr>
              <a:t>检查项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3017520" y="1828800"/>
            <a:ext cx="2743200" cy="384048"/>
          </a:xfrm>
          <a:prstGeom prst="rect">
            <a:avLst/>
          </a:prstGeom>
          <a:solidFill>
            <a:srgbClr val="2D6A4F"/>
          </a:solidFill>
          <a:ln w="6350">
            <a:solidFill>
              <a:srgbClr val="DEE2E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108960" y="1874520"/>
            <a:ext cx="2560320" cy="29260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</a:rPr>
              <a:t>预期结果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5760720" y="1828800"/>
            <a:ext cx="2743200" cy="384048"/>
          </a:xfrm>
          <a:prstGeom prst="rect">
            <a:avLst/>
          </a:prstGeom>
          <a:solidFill>
            <a:srgbClr val="2D6A4F"/>
          </a:solidFill>
          <a:ln w="6350">
            <a:solidFill>
              <a:srgbClr val="DEE2E6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852160" y="1874520"/>
            <a:ext cx="2560320" cy="29260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</a:rPr>
              <a:t>实际结果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8503920" y="1828800"/>
            <a:ext cx="2560320" cy="384048"/>
          </a:xfrm>
          <a:prstGeom prst="rect">
            <a:avLst/>
          </a:prstGeom>
          <a:solidFill>
            <a:srgbClr val="2D6A4F"/>
          </a:solidFill>
          <a:ln w="6350">
            <a:solidFill>
              <a:srgbClr val="DEE2E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595360" y="1874520"/>
            <a:ext cx="2377440" cy="29260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</a:rPr>
              <a:t>判定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731520" y="2212848"/>
            <a:ext cx="2286000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DEE2E6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22960" y="2258568"/>
            <a:ext cx="2103120" cy="29260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2D6A4F"/>
                </a:solidFill>
              </a:rPr>
              <a:t>状态码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3017520" y="2212848"/>
            <a:ext cx="2743200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DEE2E6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108960" y="2258568"/>
            <a:ext cx="2560320" cy="29260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B1B2F"/>
                </a:solidFill>
              </a:rPr>
              <a:t>200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5760720" y="2212848"/>
            <a:ext cx="2743200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DEE2E6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852160" y="2258568"/>
            <a:ext cx="2560320" cy="29260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B1B2F"/>
                </a:solidFill>
              </a:rPr>
              <a:t>200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8503920" y="2212848"/>
            <a:ext cx="2560320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DEE2E6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595360" y="2258568"/>
            <a:ext cx="2377440" cy="29260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B1B2F"/>
                </a:solidFill>
              </a:rPr>
              <a:t>✅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731520" y="2596896"/>
            <a:ext cx="2286000" cy="384048"/>
          </a:xfrm>
          <a:prstGeom prst="rect">
            <a:avLst/>
          </a:prstGeom>
          <a:solidFill>
            <a:srgbClr val="F8F9FA"/>
          </a:solidFill>
          <a:ln w="6350">
            <a:solidFill>
              <a:srgbClr val="DEE2E6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822960" y="2642616"/>
            <a:ext cx="2103120" cy="29260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2D6A4F"/>
                </a:solidFill>
              </a:rPr>
              <a:t>is_login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3017520" y="2596896"/>
            <a:ext cx="2743200" cy="384048"/>
          </a:xfrm>
          <a:prstGeom prst="rect">
            <a:avLst/>
          </a:prstGeom>
          <a:solidFill>
            <a:srgbClr val="F8F9FA"/>
          </a:solidFill>
          <a:ln w="6350">
            <a:solidFill>
              <a:srgbClr val="DEE2E6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108960" y="2642616"/>
            <a:ext cx="2560320" cy="29260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B1B2F"/>
                </a:solidFill>
              </a:rPr>
              <a:t>true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5760720" y="2596896"/>
            <a:ext cx="2743200" cy="384048"/>
          </a:xfrm>
          <a:prstGeom prst="rect">
            <a:avLst/>
          </a:prstGeom>
          <a:solidFill>
            <a:srgbClr val="F8F9FA"/>
          </a:solidFill>
          <a:ln w="6350">
            <a:solidFill>
              <a:srgbClr val="DEE2E6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852160" y="2642616"/>
            <a:ext cx="2560320" cy="29260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B1B2F"/>
                </a:solidFill>
              </a:rPr>
              <a:t>true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8503920" y="2596896"/>
            <a:ext cx="2560320" cy="384048"/>
          </a:xfrm>
          <a:prstGeom prst="rect">
            <a:avLst/>
          </a:prstGeom>
          <a:solidFill>
            <a:srgbClr val="F8F9FA"/>
          </a:solidFill>
          <a:ln w="6350">
            <a:solidFill>
              <a:srgbClr val="DEE2E6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8595360" y="2642616"/>
            <a:ext cx="2377440" cy="29260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B1B2F"/>
                </a:solidFill>
              </a:rPr>
              <a:t>✅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731520" y="2980944"/>
            <a:ext cx="2286000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DEE2E6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822960" y="3026664"/>
            <a:ext cx="2103120" cy="29260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2D6A4F"/>
                </a:solidFill>
              </a:rPr>
              <a:t>code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3017520" y="2980944"/>
            <a:ext cx="2743200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DEE2E6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3108960" y="3026664"/>
            <a:ext cx="2560320" cy="29260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B1B2F"/>
                </a:solidFill>
              </a:rPr>
              <a:t>true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5760720" y="2980944"/>
            <a:ext cx="2743200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DEE2E6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5852160" y="3026664"/>
            <a:ext cx="2560320" cy="29260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B1B2F"/>
                </a:solidFill>
              </a:rPr>
              <a:t>true</a:t>
            </a:r>
            <a:endParaRPr lang="en-US" sz="1000" dirty="0"/>
          </a:p>
        </p:txBody>
      </p:sp>
      <p:sp>
        <p:nvSpPr>
          <p:cNvPr id="35" name="Shape 33"/>
          <p:cNvSpPr/>
          <p:nvPr/>
        </p:nvSpPr>
        <p:spPr>
          <a:xfrm>
            <a:off x="8503920" y="2980944"/>
            <a:ext cx="2560320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DEE2E6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8595360" y="3026664"/>
            <a:ext cx="2377440" cy="29260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B1B2F"/>
                </a:solidFill>
              </a:rPr>
              <a:t>✅</a:t>
            </a:r>
            <a:endParaRPr lang="en-US" sz="1000" dirty="0"/>
          </a:p>
        </p:txBody>
      </p:sp>
      <p:sp>
        <p:nvSpPr>
          <p:cNvPr id="37" name="Shape 35"/>
          <p:cNvSpPr/>
          <p:nvPr/>
        </p:nvSpPr>
        <p:spPr>
          <a:xfrm>
            <a:off x="731520" y="3364992"/>
            <a:ext cx="2286000" cy="384048"/>
          </a:xfrm>
          <a:prstGeom prst="rect">
            <a:avLst/>
          </a:prstGeom>
          <a:solidFill>
            <a:srgbClr val="F8F9FA"/>
          </a:solidFill>
          <a:ln w="6350">
            <a:solidFill>
              <a:srgbClr val="DEE2E6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822960" y="3410712"/>
            <a:ext cx="2103120" cy="29260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2D6A4F"/>
                </a:solidFill>
              </a:rPr>
              <a:t>code_num</a:t>
            </a:r>
            <a:endParaRPr lang="en-US" sz="1000" dirty="0"/>
          </a:p>
        </p:txBody>
      </p:sp>
      <p:sp>
        <p:nvSpPr>
          <p:cNvPr id="39" name="Shape 37"/>
          <p:cNvSpPr/>
          <p:nvPr/>
        </p:nvSpPr>
        <p:spPr>
          <a:xfrm>
            <a:off x="3017520" y="3364992"/>
            <a:ext cx="2743200" cy="384048"/>
          </a:xfrm>
          <a:prstGeom prst="rect">
            <a:avLst/>
          </a:prstGeom>
          <a:solidFill>
            <a:srgbClr val="F8F9FA"/>
          </a:solidFill>
          <a:ln w="6350">
            <a:solidFill>
              <a:srgbClr val="DEE2E6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3108960" y="3410712"/>
            <a:ext cx="2560320" cy="29260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B1B2F"/>
                </a:solidFill>
              </a:rPr>
              <a:t>0</a:t>
            </a:r>
            <a:endParaRPr lang="en-US" sz="1000" dirty="0"/>
          </a:p>
        </p:txBody>
      </p:sp>
      <p:sp>
        <p:nvSpPr>
          <p:cNvPr id="41" name="Shape 39"/>
          <p:cNvSpPr/>
          <p:nvPr/>
        </p:nvSpPr>
        <p:spPr>
          <a:xfrm>
            <a:off x="5760720" y="3364992"/>
            <a:ext cx="2743200" cy="384048"/>
          </a:xfrm>
          <a:prstGeom prst="rect">
            <a:avLst/>
          </a:prstGeom>
          <a:solidFill>
            <a:srgbClr val="F8F9FA"/>
          </a:solidFill>
          <a:ln w="6350">
            <a:solidFill>
              <a:srgbClr val="DEE2E6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5852160" y="3410712"/>
            <a:ext cx="2560320" cy="29260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B1B2F"/>
                </a:solidFill>
              </a:rPr>
              <a:t>0</a:t>
            </a:r>
            <a:endParaRPr lang="en-US" sz="1000" dirty="0"/>
          </a:p>
        </p:txBody>
      </p:sp>
      <p:sp>
        <p:nvSpPr>
          <p:cNvPr id="43" name="Shape 41"/>
          <p:cNvSpPr/>
          <p:nvPr/>
        </p:nvSpPr>
        <p:spPr>
          <a:xfrm>
            <a:off x="8503920" y="3364992"/>
            <a:ext cx="2560320" cy="384048"/>
          </a:xfrm>
          <a:prstGeom prst="rect">
            <a:avLst/>
          </a:prstGeom>
          <a:solidFill>
            <a:srgbClr val="F8F9FA"/>
          </a:solidFill>
          <a:ln w="6350">
            <a:solidFill>
              <a:srgbClr val="DEE2E6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8595360" y="3410712"/>
            <a:ext cx="2377440" cy="29260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B1B2F"/>
                </a:solidFill>
              </a:rPr>
              <a:t>✅</a:t>
            </a:r>
            <a:endParaRPr lang="en-US" sz="1000" dirty="0"/>
          </a:p>
        </p:txBody>
      </p:sp>
      <p:sp>
        <p:nvSpPr>
          <p:cNvPr id="45" name="Shape 43"/>
          <p:cNvSpPr/>
          <p:nvPr/>
        </p:nvSpPr>
        <p:spPr>
          <a:xfrm>
            <a:off x="731520" y="3749040"/>
            <a:ext cx="2286000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DEE2E6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822960" y="3794760"/>
            <a:ext cx="2103120" cy="29260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2D6A4F"/>
                </a:solidFill>
              </a:rPr>
              <a:t>data 类型</a:t>
            </a:r>
            <a:endParaRPr lang="en-US" sz="1000" dirty="0"/>
          </a:p>
        </p:txBody>
      </p:sp>
      <p:sp>
        <p:nvSpPr>
          <p:cNvPr id="47" name="Shape 45"/>
          <p:cNvSpPr/>
          <p:nvPr/>
        </p:nvSpPr>
        <p:spPr>
          <a:xfrm>
            <a:off x="3017520" y="3749040"/>
            <a:ext cx="2743200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DEE2E6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3108960" y="3794760"/>
            <a:ext cx="2560320" cy="29260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B1B2F"/>
                </a:solidFill>
              </a:rPr>
              <a:t>数组</a:t>
            </a:r>
            <a:endParaRPr lang="en-US" sz="1000" dirty="0"/>
          </a:p>
        </p:txBody>
      </p:sp>
      <p:sp>
        <p:nvSpPr>
          <p:cNvPr id="49" name="Shape 47"/>
          <p:cNvSpPr/>
          <p:nvPr/>
        </p:nvSpPr>
        <p:spPr>
          <a:xfrm>
            <a:off x="5760720" y="3749040"/>
            <a:ext cx="2743200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DEE2E6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5852160" y="3794760"/>
            <a:ext cx="2560320" cy="29260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B1B2F"/>
                </a:solidFill>
              </a:rPr>
              <a:t>数组</a:t>
            </a:r>
            <a:endParaRPr lang="en-US" sz="1000" dirty="0"/>
          </a:p>
        </p:txBody>
      </p:sp>
      <p:sp>
        <p:nvSpPr>
          <p:cNvPr id="51" name="Shape 49"/>
          <p:cNvSpPr/>
          <p:nvPr/>
        </p:nvSpPr>
        <p:spPr>
          <a:xfrm>
            <a:off x="8503920" y="3749040"/>
            <a:ext cx="2560320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DEE2E6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8595360" y="3794760"/>
            <a:ext cx="2377440" cy="29260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B1B2F"/>
                </a:solidFill>
              </a:rPr>
              <a:t>✅</a:t>
            </a:r>
            <a:endParaRPr lang="en-US" sz="1000" dirty="0"/>
          </a:p>
        </p:txBody>
      </p:sp>
      <p:sp>
        <p:nvSpPr>
          <p:cNvPr id="53" name="Shape 51"/>
          <p:cNvSpPr/>
          <p:nvPr/>
        </p:nvSpPr>
        <p:spPr>
          <a:xfrm>
            <a:off x="731520" y="4133088"/>
            <a:ext cx="2286000" cy="384048"/>
          </a:xfrm>
          <a:prstGeom prst="rect">
            <a:avLst/>
          </a:prstGeom>
          <a:solidFill>
            <a:srgbClr val="F8F9FA"/>
          </a:solidFill>
          <a:ln w="6350">
            <a:solidFill>
              <a:srgbClr val="DEE2E6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822960" y="4178808"/>
            <a:ext cx="2103120" cy="29260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2D6A4F"/>
                </a:solidFill>
              </a:rPr>
              <a:t>data 长度</a:t>
            </a:r>
            <a:endParaRPr lang="en-US" sz="1000" dirty="0"/>
          </a:p>
        </p:txBody>
      </p:sp>
      <p:sp>
        <p:nvSpPr>
          <p:cNvPr id="55" name="Shape 53"/>
          <p:cNvSpPr/>
          <p:nvPr/>
        </p:nvSpPr>
        <p:spPr>
          <a:xfrm>
            <a:off x="3017520" y="4133088"/>
            <a:ext cx="2743200" cy="384048"/>
          </a:xfrm>
          <a:prstGeom prst="rect">
            <a:avLst/>
          </a:prstGeom>
          <a:solidFill>
            <a:srgbClr val="F8F9FA"/>
          </a:solidFill>
          <a:ln w="6350">
            <a:solidFill>
              <a:srgbClr val="DEE2E6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3108960" y="4178808"/>
            <a:ext cx="2560320" cy="29260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B1B2F"/>
                </a:solidFill>
              </a:rPr>
              <a:t>&gt; 0</a:t>
            </a:r>
            <a:endParaRPr lang="en-US" sz="1000" dirty="0"/>
          </a:p>
        </p:txBody>
      </p:sp>
      <p:sp>
        <p:nvSpPr>
          <p:cNvPr id="57" name="Shape 55"/>
          <p:cNvSpPr/>
          <p:nvPr/>
        </p:nvSpPr>
        <p:spPr>
          <a:xfrm>
            <a:off x="5760720" y="4133088"/>
            <a:ext cx="2743200" cy="384048"/>
          </a:xfrm>
          <a:prstGeom prst="rect">
            <a:avLst/>
          </a:prstGeom>
          <a:solidFill>
            <a:srgbClr val="F8F9FA"/>
          </a:solidFill>
          <a:ln w="6350">
            <a:solidFill>
              <a:srgbClr val="DEE2E6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5852160" y="4178808"/>
            <a:ext cx="2560320" cy="29260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B1B2F"/>
                </a:solidFill>
              </a:rPr>
              <a:t>3</a:t>
            </a:r>
            <a:endParaRPr lang="en-US" sz="1000" dirty="0"/>
          </a:p>
        </p:txBody>
      </p:sp>
      <p:sp>
        <p:nvSpPr>
          <p:cNvPr id="59" name="Shape 57"/>
          <p:cNvSpPr/>
          <p:nvPr/>
        </p:nvSpPr>
        <p:spPr>
          <a:xfrm>
            <a:off x="8503920" y="4133088"/>
            <a:ext cx="2560320" cy="384048"/>
          </a:xfrm>
          <a:prstGeom prst="rect">
            <a:avLst/>
          </a:prstGeom>
          <a:solidFill>
            <a:srgbClr val="F8F9FA"/>
          </a:solidFill>
          <a:ln w="6350">
            <a:solidFill>
              <a:srgbClr val="DEE2E6"/>
            </a:solidFill>
            <a:prstDash val="solid"/>
          </a:ln>
        </p:spPr>
      </p:sp>
      <p:sp>
        <p:nvSpPr>
          <p:cNvPr id="60" name="Text 58"/>
          <p:cNvSpPr/>
          <p:nvPr/>
        </p:nvSpPr>
        <p:spPr>
          <a:xfrm>
            <a:off x="8595360" y="4178808"/>
            <a:ext cx="2377440" cy="29260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B1B2F"/>
                </a:solidFill>
              </a:rPr>
              <a:t>✅</a:t>
            </a:r>
            <a:endParaRPr lang="en-US" sz="1000" dirty="0"/>
          </a:p>
        </p:txBody>
      </p:sp>
      <p:sp>
        <p:nvSpPr>
          <p:cNvPr id="61" name="Shape 59"/>
          <p:cNvSpPr/>
          <p:nvPr/>
        </p:nvSpPr>
        <p:spPr>
          <a:xfrm>
            <a:off x="731520" y="4517136"/>
            <a:ext cx="2286000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DEE2E6"/>
            </a:solidFill>
            <a:prstDash val="solid"/>
          </a:ln>
        </p:spPr>
      </p:sp>
      <p:sp>
        <p:nvSpPr>
          <p:cNvPr id="62" name="Text 60"/>
          <p:cNvSpPr/>
          <p:nvPr/>
        </p:nvSpPr>
        <p:spPr>
          <a:xfrm>
            <a:off x="822960" y="4562856"/>
            <a:ext cx="2103120" cy="29260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2D6A4F"/>
                </a:solidFill>
              </a:rPr>
              <a:t>元素字段</a:t>
            </a:r>
            <a:endParaRPr lang="en-US" sz="1000" dirty="0"/>
          </a:p>
        </p:txBody>
      </p:sp>
      <p:sp>
        <p:nvSpPr>
          <p:cNvPr id="63" name="Shape 61"/>
          <p:cNvSpPr/>
          <p:nvPr/>
        </p:nvSpPr>
        <p:spPr>
          <a:xfrm>
            <a:off x="3017520" y="4517136"/>
            <a:ext cx="2743200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DEE2E6"/>
            </a:solidFill>
            <a:prstDash val="solid"/>
          </a:ln>
        </p:spPr>
      </p:sp>
      <p:sp>
        <p:nvSpPr>
          <p:cNvPr id="64" name="Text 62"/>
          <p:cNvSpPr/>
          <p:nvPr/>
        </p:nvSpPr>
        <p:spPr>
          <a:xfrm>
            <a:off x="3108960" y="4562856"/>
            <a:ext cx="2560320" cy="29260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B1B2F"/>
                </a:solidFill>
              </a:rPr>
              <a:t>含 health/uuid/total</a:t>
            </a:r>
            <a:endParaRPr lang="en-US" sz="1000" dirty="0"/>
          </a:p>
        </p:txBody>
      </p:sp>
      <p:sp>
        <p:nvSpPr>
          <p:cNvPr id="65" name="Shape 63"/>
          <p:cNvSpPr/>
          <p:nvPr/>
        </p:nvSpPr>
        <p:spPr>
          <a:xfrm>
            <a:off x="5760720" y="4517136"/>
            <a:ext cx="2743200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DEE2E6"/>
            </a:solidFill>
            <a:prstDash val="solid"/>
          </a:ln>
        </p:spPr>
      </p:sp>
      <p:sp>
        <p:nvSpPr>
          <p:cNvPr id="66" name="Text 64"/>
          <p:cNvSpPr/>
          <p:nvPr/>
        </p:nvSpPr>
        <p:spPr>
          <a:xfrm>
            <a:off x="5852160" y="4562856"/>
            <a:ext cx="2560320" cy="29260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B1B2F"/>
                </a:solidFill>
              </a:rPr>
              <a:t>含</a:t>
            </a:r>
            <a:endParaRPr lang="en-US" sz="1000" dirty="0"/>
          </a:p>
        </p:txBody>
      </p:sp>
      <p:sp>
        <p:nvSpPr>
          <p:cNvPr id="67" name="Shape 65"/>
          <p:cNvSpPr/>
          <p:nvPr/>
        </p:nvSpPr>
        <p:spPr>
          <a:xfrm>
            <a:off x="8503920" y="4517136"/>
            <a:ext cx="2560320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DEE2E6"/>
            </a:solidFill>
            <a:prstDash val="solid"/>
          </a:ln>
        </p:spPr>
      </p:sp>
      <p:sp>
        <p:nvSpPr>
          <p:cNvPr id="68" name="Text 66"/>
          <p:cNvSpPr/>
          <p:nvPr/>
        </p:nvSpPr>
        <p:spPr>
          <a:xfrm>
            <a:off x="8595360" y="4562856"/>
            <a:ext cx="2377440" cy="29260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B1B2F"/>
                </a:solidFill>
              </a:rPr>
              <a:t>✅</a:t>
            </a:r>
            <a:endParaRPr lang="en-US" sz="1000" dirty="0"/>
          </a:p>
        </p:txBody>
      </p:sp>
      <p:sp>
        <p:nvSpPr>
          <p:cNvPr id="69" name="Shape 67"/>
          <p:cNvSpPr/>
          <p:nvPr/>
        </p:nvSpPr>
        <p:spPr>
          <a:xfrm>
            <a:off x="731520" y="4901184"/>
            <a:ext cx="2286000" cy="384048"/>
          </a:xfrm>
          <a:prstGeom prst="rect">
            <a:avLst/>
          </a:prstGeom>
          <a:solidFill>
            <a:srgbClr val="F8F9FA"/>
          </a:solidFill>
          <a:ln w="6350">
            <a:solidFill>
              <a:srgbClr val="DEE2E6"/>
            </a:solidFill>
            <a:prstDash val="solid"/>
          </a:ln>
        </p:spPr>
      </p:sp>
      <p:sp>
        <p:nvSpPr>
          <p:cNvPr id="70" name="Text 68"/>
          <p:cNvSpPr/>
          <p:nvPr/>
        </p:nvSpPr>
        <p:spPr>
          <a:xfrm>
            <a:off x="822960" y="4946904"/>
            <a:ext cx="2103120" cy="29260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2D6A4F"/>
                </a:solidFill>
              </a:rPr>
              <a:t>time</a:t>
            </a:r>
            <a:endParaRPr lang="en-US" sz="1000" dirty="0"/>
          </a:p>
        </p:txBody>
      </p:sp>
      <p:sp>
        <p:nvSpPr>
          <p:cNvPr id="71" name="Shape 69"/>
          <p:cNvSpPr/>
          <p:nvPr/>
        </p:nvSpPr>
        <p:spPr>
          <a:xfrm>
            <a:off x="3017520" y="4901184"/>
            <a:ext cx="2743200" cy="384048"/>
          </a:xfrm>
          <a:prstGeom prst="rect">
            <a:avLst/>
          </a:prstGeom>
          <a:solidFill>
            <a:srgbClr val="F8F9FA"/>
          </a:solidFill>
          <a:ln w="6350">
            <a:solidFill>
              <a:srgbClr val="DEE2E6"/>
            </a:solidFill>
            <a:prstDash val="solid"/>
          </a:ln>
        </p:spPr>
      </p:sp>
      <p:sp>
        <p:nvSpPr>
          <p:cNvPr id="72" name="Text 70"/>
          <p:cNvSpPr/>
          <p:nvPr/>
        </p:nvSpPr>
        <p:spPr>
          <a:xfrm>
            <a:off x="3108960" y="4946904"/>
            <a:ext cx="2560320" cy="29260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B1B2F"/>
                </a:solidFill>
              </a:rPr>
              <a:t>&gt; 0</a:t>
            </a:r>
            <a:endParaRPr lang="en-US" sz="1000" dirty="0"/>
          </a:p>
        </p:txBody>
      </p:sp>
      <p:sp>
        <p:nvSpPr>
          <p:cNvPr id="73" name="Shape 71"/>
          <p:cNvSpPr/>
          <p:nvPr/>
        </p:nvSpPr>
        <p:spPr>
          <a:xfrm>
            <a:off x="5760720" y="4901184"/>
            <a:ext cx="2743200" cy="384048"/>
          </a:xfrm>
          <a:prstGeom prst="rect">
            <a:avLst/>
          </a:prstGeom>
          <a:solidFill>
            <a:srgbClr val="F8F9FA"/>
          </a:solidFill>
          <a:ln w="6350">
            <a:solidFill>
              <a:srgbClr val="DEE2E6"/>
            </a:solidFill>
            <a:prstDash val="solid"/>
          </a:ln>
        </p:spPr>
      </p:sp>
      <p:sp>
        <p:nvSpPr>
          <p:cNvPr id="74" name="Text 72"/>
          <p:cNvSpPr/>
          <p:nvPr/>
        </p:nvSpPr>
        <p:spPr>
          <a:xfrm>
            <a:off x="5852160" y="4946904"/>
            <a:ext cx="2560320" cy="29260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B1B2F"/>
                </a:solidFill>
              </a:rPr>
              <a:t>0.034</a:t>
            </a:r>
            <a:endParaRPr lang="en-US" sz="1000" dirty="0"/>
          </a:p>
        </p:txBody>
      </p:sp>
      <p:sp>
        <p:nvSpPr>
          <p:cNvPr id="75" name="Shape 73"/>
          <p:cNvSpPr/>
          <p:nvPr/>
        </p:nvSpPr>
        <p:spPr>
          <a:xfrm>
            <a:off x="8503920" y="4901184"/>
            <a:ext cx="2560320" cy="384048"/>
          </a:xfrm>
          <a:prstGeom prst="rect">
            <a:avLst/>
          </a:prstGeom>
          <a:solidFill>
            <a:srgbClr val="F8F9FA"/>
          </a:solidFill>
          <a:ln w="6350">
            <a:solidFill>
              <a:srgbClr val="DEE2E6"/>
            </a:solidFill>
            <a:prstDash val="solid"/>
          </a:ln>
        </p:spPr>
      </p:sp>
      <p:sp>
        <p:nvSpPr>
          <p:cNvPr id="76" name="Text 74"/>
          <p:cNvSpPr/>
          <p:nvPr/>
        </p:nvSpPr>
        <p:spPr>
          <a:xfrm>
            <a:off x="8595360" y="4946904"/>
            <a:ext cx="2377440" cy="29260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B1B2F"/>
                </a:solidFill>
              </a:rPr>
              <a:t>✅</a:t>
            </a:r>
            <a:endParaRPr lang="en-US" sz="1000" dirty="0"/>
          </a:p>
        </p:txBody>
      </p:sp>
      <p:sp>
        <p:nvSpPr>
          <p:cNvPr id="77" name="Text 75"/>
          <p:cNvSpPr/>
          <p:nvPr/>
        </p:nvSpPr>
        <p:spPr>
          <a:xfrm>
            <a:off x="731520" y="5303520"/>
            <a:ext cx="1069848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D6A4F"/>
                </a:solidFill>
              </a:rPr>
              <a:t>全部 ✅ → 用例 PASS；任何一项不匹配 → 用例 FAIL，在备注记录差异，提交 Bug 单。</a:t>
            </a:r>
            <a:endParaRPr lang="en-US" sz="1400" dirty="0"/>
          </a:p>
        </p:txBody>
      </p:sp>
      <p:sp>
        <p:nvSpPr>
          <p:cNvPr id="78" name="Shape 76"/>
          <p:cNvSpPr/>
          <p:nvPr/>
        </p:nvSpPr>
        <p:spPr>
          <a:xfrm>
            <a:off x="731520" y="5852160"/>
            <a:ext cx="2560320" cy="502920"/>
          </a:xfrm>
          <a:prstGeom prst="roundRect">
            <a:avLst>
              <a:gd name="adj" fmla="val 18182"/>
            </a:avLst>
          </a:prstGeom>
          <a:solidFill>
            <a:srgbClr val="F8F9FA"/>
          </a:solidFill>
          <a:ln w="12700">
            <a:solidFill>
              <a:srgbClr val="2D6A4F"/>
            </a:solidFill>
            <a:prstDash val="solid"/>
          </a:ln>
        </p:spPr>
      </p:sp>
      <p:sp>
        <p:nvSpPr>
          <p:cNvPr id="79" name="Text 77"/>
          <p:cNvSpPr/>
          <p:nvPr/>
        </p:nvSpPr>
        <p:spPr>
          <a:xfrm>
            <a:off x="822960" y="5870448"/>
            <a:ext cx="237744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2D6A4F"/>
                </a:solidFill>
              </a:rPr>
              <a:t>✅ PASS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2D6A4F"/>
                </a:solidFill>
              </a:rPr>
              <a:t>实际 = 预期</a:t>
            </a:r>
            <a:endParaRPr lang="en-US" sz="1000" dirty="0"/>
          </a:p>
        </p:txBody>
      </p:sp>
      <p:sp>
        <p:nvSpPr>
          <p:cNvPr id="80" name="Shape 78"/>
          <p:cNvSpPr/>
          <p:nvPr/>
        </p:nvSpPr>
        <p:spPr>
          <a:xfrm>
            <a:off x="3566160" y="5852160"/>
            <a:ext cx="2560320" cy="502920"/>
          </a:xfrm>
          <a:prstGeom prst="roundRect">
            <a:avLst>
              <a:gd name="adj" fmla="val 18182"/>
            </a:avLst>
          </a:prstGeom>
          <a:solidFill>
            <a:srgbClr val="F8F9FA"/>
          </a:solidFill>
          <a:ln w="12700">
            <a:solidFill>
              <a:srgbClr val="C62828"/>
            </a:solidFill>
            <a:prstDash val="solid"/>
          </a:ln>
        </p:spPr>
      </p:sp>
      <p:sp>
        <p:nvSpPr>
          <p:cNvPr id="81" name="Text 79"/>
          <p:cNvSpPr/>
          <p:nvPr/>
        </p:nvSpPr>
        <p:spPr>
          <a:xfrm>
            <a:off x="3657600" y="5870448"/>
            <a:ext cx="237744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C62828"/>
                </a:solidFill>
              </a:rPr>
              <a:t>❌ FAIL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C62828"/>
                </a:solidFill>
              </a:rPr>
              <a:t>实际 ≠ 预期 → 提 Bug</a:t>
            </a:r>
            <a:endParaRPr lang="en-US" sz="1000" dirty="0"/>
          </a:p>
        </p:txBody>
      </p:sp>
      <p:sp>
        <p:nvSpPr>
          <p:cNvPr id="82" name="Shape 80"/>
          <p:cNvSpPr/>
          <p:nvPr/>
        </p:nvSpPr>
        <p:spPr>
          <a:xfrm>
            <a:off x="6400800" y="5852160"/>
            <a:ext cx="2560320" cy="502920"/>
          </a:xfrm>
          <a:prstGeom prst="roundRect">
            <a:avLst>
              <a:gd name="adj" fmla="val 18182"/>
            </a:avLst>
          </a:prstGeom>
          <a:solidFill>
            <a:srgbClr val="F8F9FA"/>
          </a:solidFill>
          <a:ln w="12700">
            <a:solidFill>
              <a:srgbClr val="E65100"/>
            </a:solidFill>
            <a:prstDash val="solid"/>
          </a:ln>
        </p:spPr>
      </p:sp>
      <p:sp>
        <p:nvSpPr>
          <p:cNvPr id="83" name="Text 81"/>
          <p:cNvSpPr/>
          <p:nvPr/>
        </p:nvSpPr>
        <p:spPr>
          <a:xfrm>
            <a:off x="6492240" y="5870448"/>
            <a:ext cx="237744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E65100"/>
                </a:solidFill>
              </a:rPr>
              <a:t>⏸ BLOCKED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E65100"/>
                </a:solidFill>
              </a:rPr>
              <a:t>前置依赖阻塞，无法执行</a:t>
            </a:r>
            <a:endParaRPr lang="en-US" sz="1000" dirty="0"/>
          </a:p>
        </p:txBody>
      </p:sp>
      <p:sp>
        <p:nvSpPr>
          <p:cNvPr id="84" name="Shape 82"/>
          <p:cNvSpPr/>
          <p:nvPr/>
        </p:nvSpPr>
        <p:spPr>
          <a:xfrm>
            <a:off x="9235440" y="5852160"/>
            <a:ext cx="2560320" cy="502920"/>
          </a:xfrm>
          <a:prstGeom prst="roundRect">
            <a:avLst>
              <a:gd name="adj" fmla="val 18182"/>
            </a:avLst>
          </a:prstGeom>
          <a:solidFill>
            <a:srgbClr val="F8F9FA"/>
          </a:solidFill>
          <a:ln w="12700">
            <a:solidFill>
              <a:srgbClr val="6C757D"/>
            </a:solidFill>
            <a:prstDash val="solid"/>
          </a:ln>
        </p:spPr>
      </p:sp>
      <p:sp>
        <p:nvSpPr>
          <p:cNvPr id="85" name="Text 83"/>
          <p:cNvSpPr/>
          <p:nvPr/>
        </p:nvSpPr>
        <p:spPr>
          <a:xfrm>
            <a:off x="9326880" y="5870448"/>
            <a:ext cx="237744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C757D"/>
                </a:solidFill>
              </a:rPr>
              <a:t>⏭ SKIP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6C757D"/>
                </a:solidFill>
              </a:rPr>
              <a:t>需求变更，本轮不测</a:t>
            </a:r>
            <a:endParaRPr lang="en-US" sz="1000" dirty="0"/>
          </a:p>
        </p:txBody>
      </p:sp>
      <p:sp>
        <p:nvSpPr>
          <p:cNvPr id="86" name="Text 84"/>
          <p:cNvSpPr/>
          <p:nvPr/>
        </p:nvSpPr>
        <p:spPr>
          <a:xfrm>
            <a:off x="457200" y="6400800"/>
            <a:ext cx="1124712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6C757D"/>
                </a:solidFill>
              </a:rPr>
              <a:t>接口测试培训 · TOS 存储管理</a:t>
            </a:r>
            <a:endParaRPr lang="en-US" sz="8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2D6A4F"/>
          </a:solidFill>
        </p:spPr>
      </p:sp>
      <p:sp>
        <p:nvSpPr>
          <p:cNvPr id="3" name="Text 1"/>
          <p:cNvSpPr/>
          <p:nvPr/>
        </p:nvSpPr>
        <p:spPr>
          <a:xfrm>
            <a:off x="548640" y="137160"/>
            <a:ext cx="10972800" cy="6400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</a:rPr>
              <a:t>常见坑（踩过的教训）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6400800"/>
            <a:ext cx="1124712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6C757D"/>
                </a:solidFill>
              </a:rPr>
              <a:t>接口测试培训 · TOS 存储管理</a:t>
            </a:r>
            <a:endParaRPr lang="en-US" sz="800" dirty="0"/>
          </a:p>
        </p:txBody>
      </p:sp>
      <p:sp>
        <p:nvSpPr>
          <p:cNvPr id="5" name="Shape 3"/>
          <p:cNvSpPr/>
          <p:nvPr/>
        </p:nvSpPr>
        <p:spPr>
          <a:xfrm>
            <a:off x="731520" y="1554480"/>
            <a:ext cx="5303520" cy="1371600"/>
          </a:xfrm>
          <a:prstGeom prst="roundRect">
            <a:avLst>
              <a:gd name="adj" fmla="val 6667"/>
            </a:avLst>
          </a:prstGeom>
          <a:solidFill>
            <a:srgbClr val="F8F9FA"/>
          </a:solidFill>
          <a:ln w="19050">
            <a:solidFill>
              <a:srgbClr val="E6510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14400" y="1645920"/>
            <a:ext cx="493776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E65100"/>
                </a:solidFill>
              </a:rPr>
              <a:t>⚠️ 第一坑：Cookie 过期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914400" y="2011680"/>
            <a:ext cx="4937760" cy="7772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B1B2F"/>
                </a:solidFill>
              </a:rPr>
              <a:t>跑着跑着所有接口 403 → 第一步重新登录刷新凭证。Cookie 和 Token 有有效期，不是永久的。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6309360" y="1554480"/>
            <a:ext cx="5303520" cy="1371600"/>
          </a:xfrm>
          <a:prstGeom prst="roundRect">
            <a:avLst>
              <a:gd name="adj" fmla="val 6667"/>
            </a:avLst>
          </a:prstGeom>
          <a:solidFill>
            <a:srgbClr val="F8F9FA"/>
          </a:solidFill>
          <a:ln w="19050">
            <a:solidFill>
              <a:srgbClr val="C6282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492240" y="1645920"/>
            <a:ext cx="493776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C62828"/>
                </a:solidFill>
              </a:rPr>
              <a:t>⚠️ 第二坑：实际结果只写描述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6492240" y="2011680"/>
            <a:ext cx="4937760" cy="7772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B1B2F"/>
                </a:solidFill>
              </a:rPr>
              <a:t>「正常返回」「符合预期」→ 信息量为零。必须贴完整 JSON 响应体，否则无法复现和回溯。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731520" y="3154680"/>
            <a:ext cx="5303520" cy="1371600"/>
          </a:xfrm>
          <a:prstGeom prst="roundRect">
            <a:avLst>
              <a:gd name="adj" fmla="val 6667"/>
            </a:avLst>
          </a:prstGeom>
          <a:solidFill>
            <a:srgbClr val="F8F9FA"/>
          </a:solidFill>
          <a:ln w="19050">
            <a:solidFill>
              <a:srgbClr val="E6510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914400" y="3246120"/>
            <a:ext cx="493776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E65100"/>
                </a:solidFill>
              </a:rPr>
              <a:t>⚠️ 第三坑：变量引用不生效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914400" y="3611880"/>
            <a:ext cx="4937760" cy="7772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B1B2F"/>
                </a:solidFill>
              </a:rPr>
              <a:t>请求头里写了 {{Cookie}}，但发送时还是显示 {{Cookie}} 没替换 → 检查环境选择器和变量名拼写。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6309360" y="3154680"/>
            <a:ext cx="5303520" cy="1371600"/>
          </a:xfrm>
          <a:prstGeom prst="roundRect">
            <a:avLst>
              <a:gd name="adj" fmla="val 6667"/>
            </a:avLst>
          </a:prstGeom>
          <a:solidFill>
            <a:srgbClr val="F8F9FA"/>
          </a:solidFill>
          <a:ln w="19050">
            <a:solidFill>
              <a:srgbClr val="C62828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492240" y="3246120"/>
            <a:ext cx="493776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C62828"/>
                </a:solidFill>
              </a:rPr>
              <a:t>⚠️ 第四坑：GET 接口请求头漏写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6492240" y="3611880"/>
            <a:ext cx="4937760" cy="7772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B1B2F"/>
                </a:solidFill>
              </a:rPr>
              <a:t>GET 接口没有请求体，但 Cookie 和 X-Csrf-Token 不能省。批量生成时最容易漏填。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731520" y="4754880"/>
            <a:ext cx="5303520" cy="1371600"/>
          </a:xfrm>
          <a:prstGeom prst="roundRect">
            <a:avLst>
              <a:gd name="adj" fmla="val 6667"/>
            </a:avLst>
          </a:prstGeom>
          <a:solidFill>
            <a:srgbClr val="F8F9FA"/>
          </a:solidFill>
          <a:ln w="19050">
            <a:solidFill>
              <a:srgbClr val="E6510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914400" y="4846320"/>
            <a:ext cx="493776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E65100"/>
                </a:solidFill>
              </a:rPr>
              <a:t>⚠️ 第五坑：用例编号/优先级无标准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914400" y="5212080"/>
            <a:ext cx="4937760" cy="7772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B1B2F"/>
                </a:solidFill>
              </a:rPr>
              <a:t>编号用 TC_模块_功能_序号；优先级 P0核心/P1重要/P2一般/P3低频。团队统一口径，不要各自发挥。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6309360" y="4754880"/>
            <a:ext cx="5303520" cy="1371600"/>
          </a:xfrm>
          <a:prstGeom prst="roundRect">
            <a:avLst>
              <a:gd name="adj" fmla="val 6667"/>
            </a:avLst>
          </a:prstGeom>
          <a:solidFill>
            <a:srgbClr val="F8F9FA"/>
          </a:solidFill>
          <a:ln w="19050">
            <a:solidFill>
              <a:srgbClr val="C62828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492240" y="4846320"/>
            <a:ext cx="493776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C62828"/>
                </a:solidFill>
              </a:rPr>
              <a:t>⚠️ 第六坑：403 响应当成 JSON 处理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6492240" y="5212080"/>
            <a:ext cx="4937760" cy="7772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B1B2F"/>
                </a:solidFill>
              </a:rPr>
              <a:t>403 返回的是 HTML 响应体，不是 JSON。实际结果必须保留原始 HTML 内容，不要转换或截断。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457200" y="6400800"/>
            <a:ext cx="1124712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6C757D"/>
                </a:solidFill>
              </a:rPr>
              <a:t>接口测试培训 · TOS 存储管理</a:t>
            </a:r>
            <a:endParaRPr lang="en-US" sz="8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2D6A4F"/>
          </a:solidFill>
        </p:spPr>
      </p:sp>
      <p:sp>
        <p:nvSpPr>
          <p:cNvPr id="3" name="Text 1"/>
          <p:cNvSpPr/>
          <p:nvPr/>
        </p:nvSpPr>
        <p:spPr>
          <a:xfrm>
            <a:off x="548640" y="137160"/>
            <a:ext cx="10972800" cy="6400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</a:rPr>
              <a:t>学员动手练习（20 分钟）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6400800"/>
            <a:ext cx="1124712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6C757D"/>
                </a:solidFill>
              </a:rPr>
              <a:t>接口测试培训 · TOS 存储管理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731520" y="1463040"/>
            <a:ext cx="1069848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B1B2F"/>
                </a:solidFill>
              </a:rPr>
              <a:t>从以下场景中任选一个，用今天学的流程走一遍：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914400" y="2103120"/>
            <a:ext cx="10332720" cy="1097280"/>
          </a:xfrm>
          <a:prstGeom prst="roundRect">
            <a:avLst>
              <a:gd name="adj" fmla="val 8333"/>
            </a:avLst>
          </a:prstGeom>
          <a:solidFill>
            <a:srgbClr val="F8F9FA"/>
          </a:solidFill>
          <a:ln w="19050">
            <a:solidFill>
              <a:srgbClr val="2D6A4F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914400" y="2103120"/>
            <a:ext cx="1280160" cy="1097280"/>
          </a:xfrm>
          <a:prstGeom prst="roundRect">
            <a:avLst/>
          </a:prstGeom>
          <a:solidFill>
            <a:srgbClr val="2D6A4F"/>
          </a:solidFill>
        </p:spPr>
      </p:sp>
      <p:sp>
        <p:nvSpPr>
          <p:cNvPr id="8" name="Text 6"/>
          <p:cNvSpPr/>
          <p:nvPr/>
        </p:nvSpPr>
        <p:spPr>
          <a:xfrm>
            <a:off x="914400" y="2377440"/>
            <a:ext cx="1280160" cy="5486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场景 A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2377440" y="2194560"/>
            <a:ext cx="859536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D6A4F"/>
                </a:solidFill>
              </a:rPr>
              <a:t>未登录访问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2377440" y="2514600"/>
            <a:ext cx="859536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B1B2F"/>
                </a:solidFill>
              </a:rPr>
              <a:t>不带 Cookie 直接访问 overview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2377440" y="2788920"/>
            <a:ext cx="859536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6C757D"/>
                </a:solidFill>
              </a:rPr>
              <a:t>提示：预期：HTTP 403；is_login=false；code=false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914400" y="3474720"/>
            <a:ext cx="10332720" cy="1097280"/>
          </a:xfrm>
          <a:prstGeom prst="roundRect">
            <a:avLst>
              <a:gd name="adj" fmla="val 8333"/>
            </a:avLst>
          </a:prstGeom>
          <a:solidFill>
            <a:srgbClr val="F8F9FA"/>
          </a:solidFill>
          <a:ln w="19050">
            <a:solidFill>
              <a:srgbClr val="2D6A4F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914400" y="3474720"/>
            <a:ext cx="1280160" cy="1097280"/>
          </a:xfrm>
          <a:prstGeom prst="roundRect">
            <a:avLst/>
          </a:prstGeom>
          <a:solidFill>
            <a:srgbClr val="2D6A4F"/>
          </a:solidFill>
        </p:spPr>
      </p:sp>
      <p:sp>
        <p:nvSpPr>
          <p:cNvPr id="14" name="Text 12"/>
          <p:cNvSpPr/>
          <p:nvPr/>
        </p:nvSpPr>
        <p:spPr>
          <a:xfrm>
            <a:off x="914400" y="3749040"/>
            <a:ext cx="1280160" cy="5486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场景 B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2377440" y="3566160"/>
            <a:ext cx="859536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D6A4F"/>
                </a:solidFill>
              </a:rPr>
              <a:t>普通用户越权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2377440" y="3886200"/>
            <a:ext cx="859536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B1B2F"/>
                </a:solidFill>
              </a:rPr>
              <a:t>普通用户登录后访问 overview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2377440" y="4160520"/>
            <a:ext cx="859536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6C757D"/>
                </a:solidFill>
              </a:rPr>
              <a:t>提示：预期：根据系统策略，返回空 data 或无权限错误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914400" y="4846320"/>
            <a:ext cx="10332720" cy="1097280"/>
          </a:xfrm>
          <a:prstGeom prst="roundRect">
            <a:avLst>
              <a:gd name="adj" fmla="val 8333"/>
            </a:avLst>
          </a:prstGeom>
          <a:solidFill>
            <a:srgbClr val="F8F9FA"/>
          </a:solidFill>
          <a:ln w="19050">
            <a:solidFill>
              <a:srgbClr val="2D6A4F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914400" y="4846320"/>
            <a:ext cx="1280160" cy="1097280"/>
          </a:xfrm>
          <a:prstGeom prst="roundRect">
            <a:avLst/>
          </a:prstGeom>
          <a:solidFill>
            <a:srgbClr val="2D6A4F"/>
          </a:solidFill>
        </p:spPr>
      </p:sp>
      <p:sp>
        <p:nvSpPr>
          <p:cNvPr id="20" name="Text 18"/>
          <p:cNvSpPr/>
          <p:nvPr/>
        </p:nvSpPr>
        <p:spPr>
          <a:xfrm>
            <a:off x="914400" y="5120640"/>
            <a:ext cx="1280160" cy="5486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场景 C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2377440" y="4937760"/>
            <a:ext cx="859536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D6A4F"/>
                </a:solidFill>
              </a:rPr>
              <a:t>篡改 Token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2377440" y="5257800"/>
            <a:ext cx="859536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B1B2F"/>
                </a:solidFill>
              </a:rPr>
              <a:t>X-Csrf-Token 改为错误值 wrong_token_123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2377440" y="5532120"/>
            <a:ext cx="859536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6C757D"/>
                </a:solidFill>
              </a:rPr>
              <a:t>提示：预期：HTTP 403；验证 Token 校验生效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731520" y="6583680"/>
            <a:ext cx="1069848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2D6A4F"/>
                </a:solidFill>
              </a:rPr>
              <a:t>要求：分配用例ID和优先级 → 填15个字段 → Apifox执行 → 回填完整响应体 → 判定PASS/FAIL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457200" y="6400800"/>
            <a:ext cx="1124712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6C757D"/>
                </a:solidFill>
              </a:rPr>
              <a:t>接口测试培训 · TOS 存储管理</a:t>
            </a:r>
            <a:endParaRPr lang="en-US" sz="8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B1B2F"/>
          </a:solidFill>
        </p:spPr>
      </p:sp>
      <p:sp>
        <p:nvSpPr>
          <p:cNvPr id="3" name="Shape 1"/>
          <p:cNvSpPr/>
          <p:nvPr/>
        </p:nvSpPr>
        <p:spPr>
          <a:xfrm>
            <a:off x="0" y="1371600"/>
            <a:ext cx="12191695" cy="73152"/>
          </a:xfrm>
          <a:prstGeom prst="rect">
            <a:avLst/>
          </a:prstGeom>
          <a:solidFill>
            <a:srgbClr val="40916C"/>
          </a:solidFill>
        </p:spPr>
      </p:sp>
      <p:sp>
        <p:nvSpPr>
          <p:cNvPr id="4" name="Text 2"/>
          <p:cNvSpPr/>
          <p:nvPr/>
        </p:nvSpPr>
        <p:spPr>
          <a:xfrm>
            <a:off x="731520" y="365760"/>
            <a:ext cx="10698480" cy="9144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FFFFFF"/>
                </a:solidFill>
              </a:rPr>
              <a:t>总结：接口测试的核心价值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1371600" y="1828800"/>
            <a:ext cx="9418320" cy="5486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D8F3DC"/>
                </a:solidFill>
              </a:rPr>
              <a:t>▸  接口测试不是玄学 —— 每一步都是可验证、可复现、有据可查的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1371600" y="2560320"/>
            <a:ext cx="9418320" cy="5486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D8F3DC"/>
                </a:solidFill>
              </a:rPr>
              <a:t>▸  前端校验不可信 —— 后端必须独立校验参数和权限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371600" y="3291840"/>
            <a:ext cx="9418320" cy="5486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D8F3DC"/>
                </a:solidFill>
              </a:rPr>
              <a:t>▸  实际结果 ≠ 描述 —— 必须贴完整响应体，拒绝「正常」两个字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371600" y="4023360"/>
            <a:ext cx="9418320" cy="5486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D8F3DC"/>
                </a:solidFill>
              </a:rPr>
              <a:t>▸  预期结果 ≤10 行 —— 只点关键字段、类型、核心约束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1371600" y="4754880"/>
            <a:ext cx="9418320" cy="5486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D8F3DC"/>
                </a:solidFill>
              </a:rPr>
              <a:t>▸  场景设计靠 AI 辅助 + 人工审查 —— 正向/反向/边界/权限全覆盖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0" y="5303520"/>
            <a:ext cx="12191695" cy="73152"/>
          </a:xfrm>
          <a:prstGeom prst="rect">
            <a:avLst/>
          </a:prstGeom>
          <a:solidFill>
            <a:srgbClr val="40916C"/>
          </a:solidFill>
        </p:spPr>
      </p:sp>
      <p:sp>
        <p:nvSpPr>
          <p:cNvPr id="11" name="Text 9"/>
          <p:cNvSpPr/>
          <p:nvPr/>
        </p:nvSpPr>
        <p:spPr>
          <a:xfrm>
            <a:off x="731520" y="5577840"/>
            <a:ext cx="1069848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6C757D"/>
                </a:solidFill>
              </a:rPr>
              <a:t>演示接口：GET /v2/storage/overview  |  工具：Apifox + Excel 15字段模板  |  流程：8 阶段标准工作流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731520" y="6035040"/>
            <a:ext cx="1069848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40916C"/>
                </a:solidFill>
              </a:rPr>
              <a:t>谢谢！有问题随时讨论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5782</Words>
  <Application>WPS 演示</Application>
  <PresentationFormat>On-screen Show (16:9)</PresentationFormat>
  <Paragraphs>629</Paragraphs>
  <Slides>18</Slides>
  <Notes>18</Notes>
  <HiddenSlides>0</HiddenSlides>
  <MMClips>0</MMClips>
  <ScaleCrop>false</ScaleCrop>
  <HeadingPairs>
    <vt:vector size="6" baseType="variant">
      <vt:variant>
        <vt:lpstr>已用的字体</vt:lpstr>
      </vt:variant>
      <vt:variant>
        <vt:i4>10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18</vt:i4>
      </vt:variant>
    </vt:vector>
  </HeadingPairs>
  <TitlesOfParts>
    <vt:vector size="29" baseType="lpstr">
      <vt:lpstr>Arial</vt:lpstr>
      <vt:lpstr>宋体</vt:lpstr>
      <vt:lpstr>Wingdings</vt:lpstr>
      <vt:lpstr>Consolas</vt:lpstr>
      <vt:lpstr>Consolas</vt:lpstr>
      <vt:lpstr>Consolas</vt:lpstr>
      <vt:lpstr>Calibri</vt:lpstr>
      <vt:lpstr>微软雅黑</vt:lpstr>
      <vt:lpstr>Arial Unicode MS</vt:lpstr>
      <vt:lpstr>等线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PptxGenJS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creator>PptxGenJS</dc:creator>
  <dc:subject>PptxGenJS Presentation</dc:subject>
  <cp:lastModifiedBy>WPS_1662533980</cp:lastModifiedBy>
  <cp:revision>3</cp:revision>
  <dcterms:created xsi:type="dcterms:W3CDTF">2026-07-23T01:28:00Z</dcterms:created>
  <dcterms:modified xsi:type="dcterms:W3CDTF">2026-07-23T01:33:01Z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38B8427B075E4CAEBD5979E18FC92CA9_12</vt:lpwstr>
  </property>
  <property fmtid="{D5CDD505-2E9C-101B-9397-08002B2CF9AE}" pid="3" name="KSOProductBuildVer">
    <vt:lpwstr>2052-12.1.0.26899</vt:lpwstr>
  </property>
</Properties>
</file>